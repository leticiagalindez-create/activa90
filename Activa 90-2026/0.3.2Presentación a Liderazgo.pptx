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8229600" cx="14630400"/>
  <p:notesSz cx="8229600" cy="14630400"/>
  <p:embeddedFontLst>
    <p:embeddedFont>
      <p:font typeface="Int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11" Type="http://schemas.openxmlformats.org/officeDocument/2006/relationships/slide" Target="slides/slide7.xml"/><Relationship Id="rId22" Type="http://schemas.openxmlformats.org/officeDocument/2006/relationships/font" Target="fonts/Inter-italic.fntdata"/><Relationship Id="rId10" Type="http://schemas.openxmlformats.org/officeDocument/2006/relationships/slide" Target="slides/slide6.xml"/><Relationship Id="rId21" Type="http://schemas.openxmlformats.org/officeDocument/2006/relationships/font" Target="fonts/Inter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8"/>
          <p:cNvSpPr/>
          <p:nvPr/>
        </p:nvSpPr>
        <p:spPr>
          <a:xfrm>
            <a:off x="793790" y="1620560"/>
            <a:ext cx="7556421" cy="3721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13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1700"/>
              <a:buFont typeface="Inter"/>
              <a:buNone/>
            </a:pPr>
            <a:r>
              <a:rPr b="1" i="0" lang="en-US" sz="1170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Programa Activa 90</a:t>
            </a:r>
            <a:endParaRPr b="0" i="0" sz="11700" u="none" cap="none" strike="noStrike"/>
          </a:p>
        </p:txBody>
      </p:sp>
      <p:sp>
        <p:nvSpPr>
          <p:cNvPr id="63" name="Google Shape;63;p18"/>
          <p:cNvSpPr/>
          <p:nvPr/>
        </p:nvSpPr>
        <p:spPr>
          <a:xfrm>
            <a:off x="793790" y="5698927"/>
            <a:ext cx="4025860" cy="254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DA1B2E"/>
                </a:solidFill>
                <a:latin typeface="Inter"/>
                <a:ea typeface="Inter"/>
                <a:cs typeface="Inter"/>
                <a:sym typeface="Inter"/>
              </a:rPr>
              <a:t>Presentación para Leadership y Productivity Coaches</a:t>
            </a:r>
            <a:endParaRPr b="0" i="0" sz="12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/>
          <p:nvPr/>
        </p:nvSpPr>
        <p:spPr>
          <a:xfrm>
            <a:off x="793790" y="1825228"/>
            <a:ext cx="4961811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Introducción</a:t>
            </a:r>
            <a:endParaRPr b="0" i="0" sz="3900" u="none" cap="none" strike="noStrike"/>
          </a:p>
        </p:txBody>
      </p:sp>
      <p:sp>
        <p:nvSpPr>
          <p:cNvPr id="70" name="Google Shape;70;p19"/>
          <p:cNvSpPr/>
          <p:nvPr/>
        </p:nvSpPr>
        <p:spPr>
          <a:xfrm>
            <a:off x="793790" y="2842141"/>
            <a:ext cx="130428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Pronto vamos a alinear la ejecución del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Programa Activa 90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, que será uno de los principales sistemas para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activar producción dentro del Market Center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50" u="none" cap="none" strike="noStrike"/>
          </a:p>
        </p:txBody>
      </p:sp>
      <p:sp>
        <p:nvSpPr>
          <p:cNvPr id="71" name="Google Shape;71;p19"/>
          <p:cNvSpPr/>
          <p:nvPr/>
        </p:nvSpPr>
        <p:spPr>
          <a:xfrm>
            <a:off x="793790" y="3700463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Es importante entender algo desde el inicio:</a:t>
            </a:r>
            <a:endParaRPr b="0" i="0" sz="1550" u="none" cap="none" strike="noStrike"/>
          </a:p>
        </p:txBody>
      </p:sp>
      <p:sp>
        <p:nvSpPr>
          <p:cNvPr id="72" name="Google Shape;72;p19"/>
          <p:cNvSpPr/>
          <p:nvPr/>
        </p:nvSpPr>
        <p:spPr>
          <a:xfrm>
            <a:off x="1091446" y="4464487"/>
            <a:ext cx="12745164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Activa 90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no es un curso ni un espacio motivacional o de entrenamiento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 Es un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sistema estructurado de producción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50" u="none" cap="none" strike="noStrike"/>
          </a:p>
        </p:txBody>
      </p:sp>
      <p:sp>
        <p:nvSpPr>
          <p:cNvPr id="73" name="Google Shape;73;p19"/>
          <p:cNvSpPr/>
          <p:nvPr/>
        </p:nvSpPr>
        <p:spPr>
          <a:xfrm>
            <a:off x="793790" y="4241244"/>
            <a:ext cx="22860" cy="764024"/>
          </a:xfrm>
          <a:prstGeom prst="rect">
            <a:avLst/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9"/>
          <p:cNvSpPr/>
          <p:nvPr/>
        </p:nvSpPr>
        <p:spPr>
          <a:xfrm>
            <a:off x="793790" y="5228511"/>
            <a:ext cx="130428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Cada sesión, cada actividad y cada seguimiento están diseñados para que los asesores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generen conversaciones, citas y oportunidades reales de negocio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50" u="none" cap="none" strike="noStrike"/>
          </a:p>
        </p:txBody>
      </p:sp>
      <p:sp>
        <p:nvSpPr>
          <p:cNvPr id="75" name="Google Shape;75;p19"/>
          <p:cNvSpPr/>
          <p:nvPr/>
        </p:nvSpPr>
        <p:spPr>
          <a:xfrm>
            <a:off x="793790" y="6086832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Y el éxito del programa depende directamente del cumplimiento del programa.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/>
          <p:nvPr/>
        </p:nvSpPr>
        <p:spPr>
          <a:xfrm>
            <a:off x="793790" y="1216343"/>
            <a:ext cx="6468904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Fechas clave del programa</a:t>
            </a:r>
            <a:endParaRPr b="0" i="0" sz="3900" u="none" cap="none" strike="noStrike"/>
          </a:p>
        </p:txBody>
      </p:sp>
      <p:sp>
        <p:nvSpPr>
          <p:cNvPr id="82" name="Google Shape;82;p20"/>
          <p:cNvSpPr/>
          <p:nvPr/>
        </p:nvSpPr>
        <p:spPr>
          <a:xfrm>
            <a:off x="793790" y="2233255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Para que todos tengamos claridad en el calendario:</a:t>
            </a:r>
            <a:endParaRPr b="0" i="0" sz="1550" u="none" cap="none" strike="noStrike"/>
          </a:p>
        </p:txBody>
      </p:sp>
      <p:sp>
        <p:nvSpPr>
          <p:cNvPr id="83" name="Google Shape;83;p20"/>
          <p:cNvSpPr/>
          <p:nvPr/>
        </p:nvSpPr>
        <p:spPr>
          <a:xfrm>
            <a:off x="650915" y="2774037"/>
            <a:ext cx="6565106" cy="4239220"/>
          </a:xfrm>
          <a:prstGeom prst="roundRect">
            <a:avLst>
              <a:gd fmla="val 702" name="adj"/>
            </a:avLst>
          </a:prstGeom>
          <a:solidFill>
            <a:srgbClr val="DA1B2E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/>
          <p:nvPr/>
        </p:nvSpPr>
        <p:spPr>
          <a:xfrm>
            <a:off x="849273" y="2972395"/>
            <a:ext cx="4697492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13 de marzo — Reunión inicial (Kickoff)</a:t>
            </a:r>
            <a:endParaRPr b="0" i="0" sz="1950" u="none" cap="none" strike="noStrike"/>
          </a:p>
        </p:txBody>
      </p:sp>
      <p:sp>
        <p:nvSpPr>
          <p:cNvPr id="85" name="Google Shape;85;p20"/>
          <p:cNvSpPr/>
          <p:nvPr/>
        </p:nvSpPr>
        <p:spPr>
          <a:xfrm>
            <a:off x="849273" y="3480911"/>
            <a:ext cx="6168390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Hora: 9:00 am</a:t>
            </a:r>
            <a:endParaRPr b="0" i="0" sz="1550" u="none" cap="none" strike="noStrike"/>
          </a:p>
        </p:txBody>
      </p:sp>
      <p:sp>
        <p:nvSpPr>
          <p:cNvPr id="86" name="Google Shape;86;p20"/>
          <p:cNvSpPr/>
          <p:nvPr/>
        </p:nvSpPr>
        <p:spPr>
          <a:xfrm>
            <a:off x="849273" y="3977045"/>
            <a:ext cx="6168390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Objetivos de la reunión:</a:t>
            </a:r>
            <a:endParaRPr b="0" i="0" sz="1550" u="none" cap="none" strike="noStrike"/>
          </a:p>
        </p:txBody>
      </p:sp>
      <p:sp>
        <p:nvSpPr>
          <p:cNvPr id="87" name="Google Shape;87;p20"/>
          <p:cNvSpPr/>
          <p:nvPr/>
        </p:nvSpPr>
        <p:spPr>
          <a:xfrm>
            <a:off x="849273" y="4473178"/>
            <a:ext cx="6168390" cy="1865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Explicar la estructura del programa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Firma de compromisos de participación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Explicar el sistema de métricas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Alinear expectativas de producción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Entregar material</a:t>
            </a:r>
            <a:endParaRPr b="0" i="0" sz="1550" u="none" cap="none" strike="noStrike"/>
          </a:p>
        </p:txBody>
      </p:sp>
      <p:sp>
        <p:nvSpPr>
          <p:cNvPr id="88" name="Google Shape;88;p20"/>
          <p:cNvSpPr/>
          <p:nvPr/>
        </p:nvSpPr>
        <p:spPr>
          <a:xfrm>
            <a:off x="849273" y="6517124"/>
            <a:ext cx="6168390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SzPts val="1550"/>
              <a:buFont typeface="Arial"/>
              <a:buNone/>
            </a:pPr>
            <a:r>
              <a:t/>
            </a:r>
            <a:endParaRPr b="0" i="0" sz="1550" u="none" cap="none" strike="noStrike"/>
          </a:p>
        </p:txBody>
      </p:sp>
      <p:sp>
        <p:nvSpPr>
          <p:cNvPr id="89" name="Google Shape;89;p20"/>
          <p:cNvSpPr/>
          <p:nvPr/>
        </p:nvSpPr>
        <p:spPr>
          <a:xfrm>
            <a:off x="7564874" y="2972395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Participan:</a:t>
            </a:r>
            <a:endParaRPr b="0" i="0" sz="1950" u="none" cap="none" strike="noStrike"/>
          </a:p>
        </p:txBody>
      </p:sp>
      <p:sp>
        <p:nvSpPr>
          <p:cNvPr id="90" name="Google Shape;90;p20"/>
          <p:cNvSpPr/>
          <p:nvPr/>
        </p:nvSpPr>
        <p:spPr>
          <a:xfrm>
            <a:off x="7564874" y="3480911"/>
            <a:ext cx="6279356" cy="704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Team Leader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Asesores seleccionados para el programa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6" name="Google Shape;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1"/>
          <p:cNvSpPr/>
          <p:nvPr/>
        </p:nvSpPr>
        <p:spPr>
          <a:xfrm>
            <a:off x="793790" y="1988939"/>
            <a:ext cx="7556421" cy="1711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33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5350"/>
              <a:buFont typeface="Inter"/>
              <a:buNone/>
            </a:pPr>
            <a:r>
              <a:rPr b="1" i="0" lang="en-US" sz="5350" u="none" cap="none" strike="noStrike">
                <a:solidFill>
                  <a:srgbClr val="DA1B2E"/>
                </a:solidFill>
                <a:latin typeface="Inter"/>
                <a:ea typeface="Inter"/>
                <a:cs typeface="Inter"/>
                <a:sym typeface="Inter"/>
              </a:rPr>
              <a:t>16 de marzo</a:t>
            </a:r>
            <a:r>
              <a:rPr b="1" i="0" lang="en-US" sz="535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 — Inicio oficial del programa</a:t>
            </a:r>
            <a:endParaRPr b="0" i="0" sz="5350" u="none" cap="none" strike="noStrike"/>
          </a:p>
        </p:txBody>
      </p:sp>
      <p:sp>
        <p:nvSpPr>
          <p:cNvPr id="98" name="Google Shape;98;p21"/>
          <p:cNvSpPr/>
          <p:nvPr/>
        </p:nvSpPr>
        <p:spPr>
          <a:xfrm>
            <a:off x="793790" y="3998238"/>
            <a:ext cx="75564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A partir de esta fecha inicia la ejecución completa del sistema.</a:t>
            </a:r>
            <a:endParaRPr b="0" i="0" sz="1550" u="none" cap="none" strike="noStrike"/>
          </a:p>
        </p:txBody>
      </p:sp>
      <p:sp>
        <p:nvSpPr>
          <p:cNvPr id="99" name="Google Shape;99;p21"/>
          <p:cNvSpPr/>
          <p:nvPr/>
        </p:nvSpPr>
        <p:spPr>
          <a:xfrm>
            <a:off x="793790" y="4539020"/>
            <a:ext cx="7556421" cy="843201"/>
          </a:xfrm>
          <a:prstGeom prst="roundRect">
            <a:avLst>
              <a:gd fmla="val 1084" name="adj"/>
            </a:avLst>
          </a:prstGeom>
          <a:solidFill>
            <a:srgbClr val="F7BB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2148" y="4841915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1"/>
          <p:cNvSpPr/>
          <p:nvPr/>
        </p:nvSpPr>
        <p:spPr>
          <a:xfrm>
            <a:off x="1438513" y="4786908"/>
            <a:ext cx="6713339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Duración total:</a:t>
            </a:r>
            <a:r>
              <a:rPr b="0" i="0" lang="en-US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90 días. (12 semanas)</a:t>
            </a:r>
            <a:endParaRPr b="0" i="0" sz="1550" u="none" cap="none" strike="noStrike"/>
          </a:p>
        </p:txBody>
      </p:sp>
      <p:sp>
        <p:nvSpPr>
          <p:cNvPr id="102" name="Google Shape;102;p21"/>
          <p:cNvSpPr/>
          <p:nvPr/>
        </p:nvSpPr>
        <p:spPr>
          <a:xfrm>
            <a:off x="793790" y="5605462"/>
            <a:ext cx="75564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Durante este periodo los asesores estarán trabajando bajo una estructura clara de generación de negocio, entrenamiento y seguimiento semanal.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/>
          <p:nvPr/>
        </p:nvSpPr>
        <p:spPr>
          <a:xfrm>
            <a:off x="793790" y="1744742"/>
            <a:ext cx="8746808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Diseño de cada sesión del programa</a:t>
            </a:r>
            <a:endParaRPr b="0" i="0" sz="3900" u="none" cap="none" strike="noStrike"/>
          </a:p>
        </p:txBody>
      </p:sp>
      <p:sp>
        <p:nvSpPr>
          <p:cNvPr id="109" name="Google Shape;109;p22"/>
          <p:cNvSpPr/>
          <p:nvPr/>
        </p:nvSpPr>
        <p:spPr>
          <a:xfrm>
            <a:off x="793790" y="2761655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Cada sesión del programa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ya está completamente diseñada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50" u="none" cap="none" strike="noStrike"/>
          </a:p>
        </p:txBody>
      </p:sp>
      <p:sp>
        <p:nvSpPr>
          <p:cNvPr id="110" name="Google Shape;110;p22"/>
          <p:cNvSpPr/>
          <p:nvPr/>
        </p:nvSpPr>
        <p:spPr>
          <a:xfrm>
            <a:off x="793790" y="3500795"/>
            <a:ext cx="2504123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Cada clínica incluye:</a:t>
            </a:r>
            <a:endParaRPr b="0" i="0" sz="1950" u="none" cap="none" strike="noStrike"/>
          </a:p>
        </p:txBody>
      </p:sp>
      <p:sp>
        <p:nvSpPr>
          <p:cNvPr id="111" name="Google Shape;111;p22"/>
          <p:cNvSpPr/>
          <p:nvPr/>
        </p:nvSpPr>
        <p:spPr>
          <a:xfrm>
            <a:off x="793790" y="4009311"/>
            <a:ext cx="6279356" cy="1865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Scripts específicos que los asesores deben practicar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Guiones de conversación para situaciones reales con clientes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Ejercicios de role play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Objetivos claros de la semana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Ejecución de llamadas en vivo</a:t>
            </a:r>
            <a:endParaRPr b="0" i="0" sz="1550" u="none" cap="none" strike="noStrike"/>
          </a:p>
        </p:txBody>
      </p:sp>
      <p:sp>
        <p:nvSpPr>
          <p:cNvPr id="112" name="Google Shape;112;p22"/>
          <p:cNvSpPr/>
          <p:nvPr/>
        </p:nvSpPr>
        <p:spPr>
          <a:xfrm>
            <a:off x="7421999" y="3302437"/>
            <a:ext cx="6565106" cy="2641640"/>
          </a:xfrm>
          <a:prstGeom prst="roundRect">
            <a:avLst>
              <a:gd fmla="val 1127" name="adj"/>
            </a:avLst>
          </a:prstGeom>
          <a:solidFill>
            <a:srgbClr val="DA1B2E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/>
          <p:nvPr/>
        </p:nvSpPr>
        <p:spPr>
          <a:xfrm>
            <a:off x="7620357" y="3500795"/>
            <a:ext cx="2713911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programa ya define:</a:t>
            </a:r>
            <a:endParaRPr b="0" i="0" sz="1950" u="none" cap="none" strike="noStrike"/>
          </a:p>
        </p:txBody>
      </p:sp>
      <p:sp>
        <p:nvSpPr>
          <p:cNvPr id="114" name="Google Shape;114;p22"/>
          <p:cNvSpPr/>
          <p:nvPr/>
        </p:nvSpPr>
        <p:spPr>
          <a:xfrm>
            <a:off x="7620357" y="4009311"/>
            <a:ext cx="6168390" cy="14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Qué decir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Cómo decirlo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Qué acciones tomar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Qué resultados se esperan</a:t>
            </a:r>
            <a:endParaRPr b="0" i="0" sz="1550" u="none" cap="none" strike="noStrike"/>
          </a:p>
        </p:txBody>
      </p:sp>
      <p:sp>
        <p:nvSpPr>
          <p:cNvPr id="115" name="Google Shape;115;p22"/>
          <p:cNvSpPr/>
          <p:nvPr/>
        </p:nvSpPr>
        <p:spPr>
          <a:xfrm>
            <a:off x="793790" y="6167318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Esto significa que el asesor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no tiene que improvisar qué hacer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 El rol del PC es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guiar la práctica y asegurar la ejecución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/>
        </p:nvSpPr>
        <p:spPr>
          <a:xfrm>
            <a:off x="793790" y="664726"/>
            <a:ext cx="7220069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500"/>
              <a:buFont typeface="Inter"/>
              <a:buNone/>
            </a:pPr>
            <a:r>
              <a:rPr b="1" i="0" lang="en-US" sz="350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Estructura semanal del programa</a:t>
            </a:r>
            <a:endParaRPr b="0" i="0" sz="3500" u="none" cap="none" strike="noStrike"/>
          </a:p>
        </p:txBody>
      </p:sp>
      <p:sp>
        <p:nvSpPr>
          <p:cNvPr id="122" name="Google Shape;122;p23"/>
          <p:cNvSpPr/>
          <p:nvPr/>
        </p:nvSpPr>
        <p:spPr>
          <a:xfrm>
            <a:off x="793790" y="1544360"/>
            <a:ext cx="1304282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Cada semana sigue una estructura consistente para generar disciplina y resultados.</a:t>
            </a:r>
            <a:endParaRPr b="0" i="0" sz="1400" u="none" cap="none" strike="noStrike"/>
          </a:p>
        </p:txBody>
      </p:sp>
      <p:sp>
        <p:nvSpPr>
          <p:cNvPr id="123" name="Google Shape;123;p23"/>
          <p:cNvSpPr/>
          <p:nvPr/>
        </p:nvSpPr>
        <p:spPr>
          <a:xfrm>
            <a:off x="793790" y="2056924"/>
            <a:ext cx="3572470" cy="446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1. Lead Generation</a:t>
            </a:r>
            <a:endParaRPr b="0" i="0" sz="2800" u="none" cap="none" strike="noStrike"/>
          </a:p>
        </p:txBody>
      </p:sp>
      <p:sp>
        <p:nvSpPr>
          <p:cNvPr id="124" name="Google Shape;124;p23"/>
          <p:cNvSpPr/>
          <p:nvPr/>
        </p:nvSpPr>
        <p:spPr>
          <a:xfrm>
            <a:off x="793790" y="2744629"/>
            <a:ext cx="1304282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Cada asesor debe cumplir con el estándar de generación de negocio:</a:t>
            </a:r>
            <a:endParaRPr b="0" i="0" sz="1400" u="none" cap="none" strike="noStrike"/>
          </a:p>
        </p:txBody>
      </p:sp>
      <p:sp>
        <p:nvSpPr>
          <p:cNvPr id="125" name="Google Shape;125;p23"/>
          <p:cNvSpPr/>
          <p:nvPr/>
        </p:nvSpPr>
        <p:spPr>
          <a:xfrm>
            <a:off x="1445895" y="3286244"/>
            <a:ext cx="11738491" cy="589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4600"/>
              <a:buFont typeface="Inter"/>
              <a:buNone/>
            </a:pPr>
            <a:r>
              <a:rPr b="1" i="0" lang="en-US" sz="460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75</a:t>
            </a:r>
            <a:endParaRPr b="0" i="0" sz="4600" u="none" cap="none" strike="noStrike"/>
          </a:p>
        </p:txBody>
      </p:sp>
      <p:sp>
        <p:nvSpPr>
          <p:cNvPr id="126" name="Google Shape;126;p23"/>
          <p:cNvSpPr/>
          <p:nvPr/>
        </p:nvSpPr>
        <p:spPr>
          <a:xfrm>
            <a:off x="5813822" y="4085392"/>
            <a:ext cx="3002756" cy="27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Conversaciones semanales</a:t>
            </a:r>
            <a:endParaRPr b="0" i="0" sz="1750" u="none" cap="none" strike="noStrike"/>
          </a:p>
        </p:txBody>
      </p:sp>
      <p:sp>
        <p:nvSpPr>
          <p:cNvPr id="127" name="Google Shape;127;p23"/>
          <p:cNvSpPr/>
          <p:nvPr/>
        </p:nvSpPr>
        <p:spPr>
          <a:xfrm>
            <a:off x="793790" y="4460796"/>
            <a:ext cx="1304282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Estándar mínimo de generación de negocio por asesor</a:t>
            </a:r>
            <a:endParaRPr b="0" i="0" sz="1400" u="none" cap="none" strike="noStrike"/>
          </a:p>
        </p:txBody>
      </p:sp>
      <p:sp>
        <p:nvSpPr>
          <p:cNvPr id="128" name="Google Shape;128;p23"/>
          <p:cNvSpPr/>
          <p:nvPr/>
        </p:nvSpPr>
        <p:spPr>
          <a:xfrm>
            <a:off x="793790" y="4913114"/>
            <a:ext cx="1304282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A través de:</a:t>
            </a:r>
            <a:endParaRPr b="0" i="0" sz="1400" u="none" cap="none" strike="noStrike"/>
          </a:p>
        </p:txBody>
      </p:sp>
      <p:sp>
        <p:nvSpPr>
          <p:cNvPr id="129" name="Google Shape;129;p23"/>
          <p:cNvSpPr/>
          <p:nvPr/>
        </p:nvSpPr>
        <p:spPr>
          <a:xfrm>
            <a:off x="793790" y="5365432"/>
            <a:ext cx="6441043" cy="1019294"/>
          </a:xfrm>
          <a:prstGeom prst="roundRect">
            <a:avLst>
              <a:gd fmla="val 897" name="adj"/>
            </a:avLst>
          </a:prstGeom>
          <a:solidFill>
            <a:srgbClr val="F2EEEE"/>
          </a:solidFill>
          <a:ln cap="flat" cmpd="sng" w="95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/>
          <p:nvPr/>
        </p:nvSpPr>
        <p:spPr>
          <a:xfrm>
            <a:off x="980003" y="5551646"/>
            <a:ext cx="2232779" cy="27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Esfera de influencia</a:t>
            </a:r>
            <a:endParaRPr b="0" i="0" sz="1750" u="none" cap="none" strike="noStrike"/>
          </a:p>
        </p:txBody>
      </p:sp>
      <p:sp>
        <p:nvSpPr>
          <p:cNvPr id="131" name="Google Shape;131;p23"/>
          <p:cNvSpPr/>
          <p:nvPr/>
        </p:nvSpPr>
        <p:spPr>
          <a:xfrm>
            <a:off x="980003" y="5927050"/>
            <a:ext cx="6068616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Llamadas directas a contactos cercanos</a:t>
            </a:r>
            <a:endParaRPr b="0" i="0" sz="1400" u="none" cap="none" strike="noStrike"/>
          </a:p>
        </p:txBody>
      </p:sp>
      <p:sp>
        <p:nvSpPr>
          <p:cNvPr id="132" name="Google Shape;132;p23"/>
          <p:cNvSpPr/>
          <p:nvPr/>
        </p:nvSpPr>
        <p:spPr>
          <a:xfrm>
            <a:off x="7395567" y="5365432"/>
            <a:ext cx="6441043" cy="1019294"/>
          </a:xfrm>
          <a:prstGeom prst="roundRect">
            <a:avLst>
              <a:gd fmla="val 897" name="adj"/>
            </a:avLst>
          </a:prstGeom>
          <a:solidFill>
            <a:srgbClr val="F2EEEE"/>
          </a:solidFill>
          <a:ln cap="flat" cmpd="sng" w="95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/>
          <p:nvPr/>
        </p:nvSpPr>
        <p:spPr>
          <a:xfrm>
            <a:off x="7581781" y="5551646"/>
            <a:ext cx="2232779" cy="27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Base de datos</a:t>
            </a:r>
            <a:endParaRPr b="0" i="0" sz="1750" u="none" cap="none" strike="noStrike"/>
          </a:p>
        </p:txBody>
      </p:sp>
      <p:sp>
        <p:nvSpPr>
          <p:cNvPr id="134" name="Google Shape;134;p23"/>
          <p:cNvSpPr/>
          <p:nvPr/>
        </p:nvSpPr>
        <p:spPr>
          <a:xfrm>
            <a:off x="7581781" y="5927050"/>
            <a:ext cx="6068616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Seguimiento de contactos existentes</a:t>
            </a:r>
            <a:endParaRPr b="0" i="0" sz="1400" u="none" cap="none" strike="noStrike"/>
          </a:p>
        </p:txBody>
      </p:sp>
      <p:sp>
        <p:nvSpPr>
          <p:cNvPr id="135" name="Google Shape;135;p23"/>
          <p:cNvSpPr/>
          <p:nvPr/>
        </p:nvSpPr>
        <p:spPr>
          <a:xfrm>
            <a:off x="793790" y="6545461"/>
            <a:ext cx="6441043" cy="1019294"/>
          </a:xfrm>
          <a:prstGeom prst="roundRect">
            <a:avLst>
              <a:gd fmla="val 897" name="adj"/>
            </a:avLst>
          </a:prstGeom>
          <a:solidFill>
            <a:srgbClr val="F2EEEE"/>
          </a:solidFill>
          <a:ln cap="flat" cmpd="sng" w="95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980003" y="6731675"/>
            <a:ext cx="2232779" cy="27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Prospectos</a:t>
            </a:r>
            <a:endParaRPr b="0" i="0" sz="1750" u="none" cap="none" strike="noStrike"/>
          </a:p>
        </p:txBody>
      </p:sp>
      <p:sp>
        <p:nvSpPr>
          <p:cNvPr id="137" name="Google Shape;137;p23"/>
          <p:cNvSpPr/>
          <p:nvPr/>
        </p:nvSpPr>
        <p:spPr>
          <a:xfrm>
            <a:off x="980003" y="7107079"/>
            <a:ext cx="6068616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Contactos con clientes potenciales</a:t>
            </a:r>
            <a:endParaRPr b="0" i="0" sz="1400" u="none" cap="none" strike="noStrike"/>
          </a:p>
        </p:txBody>
      </p:sp>
      <p:sp>
        <p:nvSpPr>
          <p:cNvPr id="138" name="Google Shape;138;p23"/>
          <p:cNvSpPr/>
          <p:nvPr/>
        </p:nvSpPr>
        <p:spPr>
          <a:xfrm>
            <a:off x="7395567" y="6545461"/>
            <a:ext cx="6441043" cy="1019294"/>
          </a:xfrm>
          <a:prstGeom prst="roundRect">
            <a:avLst>
              <a:gd fmla="val 897" name="adj"/>
            </a:avLst>
          </a:prstGeom>
          <a:solidFill>
            <a:srgbClr val="F2EEEE"/>
          </a:solidFill>
          <a:ln cap="flat" cmpd="sng" w="95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3"/>
          <p:cNvSpPr/>
          <p:nvPr/>
        </p:nvSpPr>
        <p:spPr>
          <a:xfrm>
            <a:off x="7581781" y="6731675"/>
            <a:ext cx="2232779" cy="27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Referidos</a:t>
            </a:r>
            <a:endParaRPr b="0" i="0" sz="1750" u="none" cap="none" strike="noStrike"/>
          </a:p>
        </p:txBody>
      </p:sp>
      <p:sp>
        <p:nvSpPr>
          <p:cNvPr id="140" name="Google Shape;140;p23"/>
          <p:cNvSpPr/>
          <p:nvPr/>
        </p:nvSpPr>
        <p:spPr>
          <a:xfrm>
            <a:off x="7581781" y="7107079"/>
            <a:ext cx="6068616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Generación de citas reales de negocio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/>
          <p:nvPr/>
        </p:nvSpPr>
        <p:spPr>
          <a:xfrm>
            <a:off x="793790" y="1293376"/>
            <a:ext cx="4961811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2. Power Hour</a:t>
            </a:r>
            <a:endParaRPr b="0" i="0" sz="3900" u="none" cap="none" strike="noStrike"/>
          </a:p>
        </p:txBody>
      </p:sp>
      <p:sp>
        <p:nvSpPr>
          <p:cNvPr id="147" name="Google Shape;147;p24"/>
          <p:cNvSpPr/>
          <p:nvPr/>
        </p:nvSpPr>
        <p:spPr>
          <a:xfrm>
            <a:off x="1091446" y="2533531"/>
            <a:ext cx="12745164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El Power Hour es el momento más importante del programa. No es una reunión. Es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la hora donde se generan conversaciones reales con clientes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50" u="none" cap="none" strike="noStrike"/>
          </a:p>
        </p:txBody>
      </p:sp>
      <p:sp>
        <p:nvSpPr>
          <p:cNvPr id="148" name="Google Shape;148;p24"/>
          <p:cNvSpPr/>
          <p:nvPr/>
        </p:nvSpPr>
        <p:spPr>
          <a:xfrm>
            <a:off x="793790" y="2310289"/>
            <a:ext cx="22860" cy="1081564"/>
          </a:xfrm>
          <a:prstGeom prst="rect">
            <a:avLst/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793790" y="3813453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Actividades:</a:t>
            </a:r>
            <a:endParaRPr b="0" i="0" sz="1950" u="none" cap="none" strike="noStrike"/>
          </a:p>
        </p:txBody>
      </p:sp>
      <p:sp>
        <p:nvSpPr>
          <p:cNvPr id="150" name="Google Shape;150;p24"/>
          <p:cNvSpPr/>
          <p:nvPr/>
        </p:nvSpPr>
        <p:spPr>
          <a:xfrm>
            <a:off x="793790" y="4321969"/>
            <a:ext cx="6279356" cy="14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Llamadas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Seguimiento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Contacto con prospectos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Agendamiento de citas</a:t>
            </a:r>
            <a:endParaRPr b="0" i="0" sz="1550" u="none" cap="none" strike="noStrike"/>
          </a:p>
        </p:txBody>
      </p:sp>
      <p:sp>
        <p:nvSpPr>
          <p:cNvPr id="151" name="Google Shape;151;p24"/>
          <p:cNvSpPr/>
          <p:nvPr/>
        </p:nvSpPr>
        <p:spPr>
          <a:xfrm>
            <a:off x="7421999" y="3615095"/>
            <a:ext cx="6565106" cy="2254687"/>
          </a:xfrm>
          <a:prstGeom prst="roundRect">
            <a:avLst>
              <a:gd fmla="val 1320" name="adj"/>
            </a:avLst>
          </a:prstGeom>
          <a:solidFill>
            <a:srgbClr val="DA1B2E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4"/>
          <p:cNvSpPr/>
          <p:nvPr/>
        </p:nvSpPr>
        <p:spPr>
          <a:xfrm>
            <a:off x="7620357" y="3813453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Rol del PC:</a:t>
            </a:r>
            <a:endParaRPr b="0" i="0" sz="1950" u="none" cap="none" strike="noStrike"/>
          </a:p>
        </p:txBody>
      </p:sp>
      <p:sp>
        <p:nvSpPr>
          <p:cNvPr id="153" name="Google Shape;153;p24"/>
          <p:cNvSpPr/>
          <p:nvPr/>
        </p:nvSpPr>
        <p:spPr>
          <a:xfrm>
            <a:off x="7620357" y="4321969"/>
            <a:ext cx="6168390" cy="14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Mantener ritmo de llamadas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Asegurar que todos estén generando conversaciones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Evitar distracciones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Cerrar revisando resultados</a:t>
            </a:r>
            <a:endParaRPr b="0" i="0" sz="1550" u="none" cap="none" strike="noStrike"/>
          </a:p>
        </p:txBody>
      </p:sp>
      <p:sp>
        <p:nvSpPr>
          <p:cNvPr id="154" name="Google Shape;154;p24"/>
          <p:cNvSpPr/>
          <p:nvPr/>
        </p:nvSpPr>
        <p:spPr>
          <a:xfrm>
            <a:off x="793790" y="6093023"/>
            <a:ext cx="13042821" cy="843201"/>
          </a:xfrm>
          <a:prstGeom prst="roundRect">
            <a:avLst>
              <a:gd fmla="val 1084" name="adj"/>
            </a:avLst>
          </a:prstGeom>
          <a:solidFill>
            <a:srgbClr val="F7BB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48" y="6395918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4"/>
          <p:cNvSpPr/>
          <p:nvPr/>
        </p:nvSpPr>
        <p:spPr>
          <a:xfrm>
            <a:off x="1438513" y="6340912"/>
            <a:ext cx="12199739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Este espacio </a:t>
            </a:r>
            <a:r>
              <a:rPr b="1" i="0" lang="en-US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es social</a:t>
            </a:r>
            <a:r>
              <a:rPr b="0" i="0" lang="en-US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Es un espacio de producción.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/>
          <p:nvPr/>
        </p:nvSpPr>
        <p:spPr>
          <a:xfrm>
            <a:off x="793790" y="1551265"/>
            <a:ext cx="9118402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3. Entrenamiento en scripts y guiones</a:t>
            </a:r>
            <a:endParaRPr b="0" i="0" sz="3900" u="none" cap="none" strike="noStrike"/>
          </a:p>
        </p:txBody>
      </p:sp>
      <p:sp>
        <p:nvSpPr>
          <p:cNvPr id="163" name="Google Shape;163;p25"/>
          <p:cNvSpPr/>
          <p:nvPr/>
        </p:nvSpPr>
        <p:spPr>
          <a:xfrm>
            <a:off x="793790" y="2568178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Cada semana se practican guiones enfocados en situaciones reales del negocio inmobiliario.</a:t>
            </a:r>
            <a:endParaRPr b="0" i="0" sz="1550" u="none" cap="none" strike="noStrike"/>
          </a:p>
        </p:txBody>
      </p:sp>
      <p:sp>
        <p:nvSpPr>
          <p:cNvPr id="164" name="Google Shape;164;p25"/>
          <p:cNvSpPr/>
          <p:nvPr/>
        </p:nvSpPr>
        <p:spPr>
          <a:xfrm>
            <a:off x="793790" y="3307318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Por ejemplo:</a:t>
            </a:r>
            <a:endParaRPr b="0" i="0" sz="1950" u="none" cap="none" strike="noStrike"/>
          </a:p>
        </p:txBody>
      </p:sp>
      <p:sp>
        <p:nvSpPr>
          <p:cNvPr id="165" name="Google Shape;165;p25"/>
          <p:cNvSpPr/>
          <p:nvPr/>
        </p:nvSpPr>
        <p:spPr>
          <a:xfrm>
            <a:off x="793790" y="3815834"/>
            <a:ext cx="6279356" cy="225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Llamadas a la esfera de influencia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Captación de listados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Manejo de objeciones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Defensa de exclusiva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Preparación de citas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Negociación con clientes</a:t>
            </a:r>
            <a:endParaRPr b="0" i="0" sz="1550" u="none" cap="none" strike="noStrike"/>
          </a:p>
        </p:txBody>
      </p:sp>
      <p:sp>
        <p:nvSpPr>
          <p:cNvPr id="166" name="Google Shape;166;p25"/>
          <p:cNvSpPr/>
          <p:nvPr/>
        </p:nvSpPr>
        <p:spPr>
          <a:xfrm>
            <a:off x="7564874" y="3307318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El PC debe:</a:t>
            </a:r>
            <a:endParaRPr b="0" i="0" sz="1950" u="none" cap="none" strike="noStrike"/>
          </a:p>
        </p:txBody>
      </p:sp>
      <p:sp>
        <p:nvSpPr>
          <p:cNvPr id="167" name="Google Shape;167;p25"/>
          <p:cNvSpPr/>
          <p:nvPr/>
        </p:nvSpPr>
        <p:spPr>
          <a:xfrm>
            <a:off x="7564874" y="3815834"/>
            <a:ext cx="6279356" cy="14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Practicar los scripts con los asesores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Hacer role plays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Corregir lenguaje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Fortalecer seguridad en las conversaciones</a:t>
            </a:r>
            <a:endParaRPr b="0" i="0" sz="1550" u="none" cap="none" strike="noStrike"/>
          </a:p>
        </p:txBody>
      </p:sp>
      <p:sp>
        <p:nvSpPr>
          <p:cNvPr id="168" name="Google Shape;168;p25"/>
          <p:cNvSpPr/>
          <p:nvPr/>
        </p:nvSpPr>
        <p:spPr>
          <a:xfrm>
            <a:off x="793790" y="6360795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Cuando los asesores dominan los guiones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aumenta su capacidad de generar negocio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664607" y="537329"/>
            <a:ext cx="4846558" cy="337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4. Clínicas semanales de habilidades</a:t>
            </a:r>
            <a:endParaRPr b="0" i="0" sz="2100" u="none" cap="none" strike="noStrike"/>
          </a:p>
        </p:txBody>
      </p:sp>
      <p:sp>
        <p:nvSpPr>
          <p:cNvPr id="175" name="Google Shape;175;p26"/>
          <p:cNvSpPr/>
          <p:nvPr/>
        </p:nvSpPr>
        <p:spPr>
          <a:xfrm>
            <a:off x="664607" y="992386"/>
            <a:ext cx="133011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Cada semana se trabajará una clínica enfocada en una habilidad crítica del negocio.</a:t>
            </a:r>
            <a:endParaRPr b="0" i="0" sz="850" u="none" cap="none" strike="noStrike"/>
          </a:p>
        </p:txBody>
      </p:sp>
      <p:sp>
        <p:nvSpPr>
          <p:cNvPr id="176" name="Google Shape;176;p26"/>
          <p:cNvSpPr/>
          <p:nvPr/>
        </p:nvSpPr>
        <p:spPr>
          <a:xfrm>
            <a:off x="664607" y="1191816"/>
            <a:ext cx="13301186" cy="647938"/>
          </a:xfrm>
          <a:prstGeom prst="roundRect">
            <a:avLst>
              <a:gd fmla="val 1411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6"/>
          <p:cNvSpPr/>
          <p:nvPr/>
        </p:nvSpPr>
        <p:spPr>
          <a:xfrm>
            <a:off x="679847" y="1207056"/>
            <a:ext cx="431959" cy="617458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/>
          <p:nvPr/>
        </p:nvSpPr>
        <p:spPr>
          <a:xfrm>
            <a:off x="811054" y="1414582"/>
            <a:ext cx="161925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50" u="none" cap="none" strike="noStrike"/>
          </a:p>
        </p:txBody>
      </p:sp>
      <p:sp>
        <p:nvSpPr>
          <p:cNvPr id="179" name="Google Shape;179;p26"/>
          <p:cNvSpPr/>
          <p:nvPr/>
        </p:nvSpPr>
        <p:spPr>
          <a:xfrm>
            <a:off x="1170503" y="1315045"/>
            <a:ext cx="2259449" cy="168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Mentalidad del asesor inmobiliario</a:t>
            </a:r>
            <a:endParaRPr b="0" i="0" sz="1050" u="none" cap="none" strike="noStrike"/>
          </a:p>
        </p:txBody>
      </p:sp>
      <p:sp>
        <p:nvSpPr>
          <p:cNvPr id="180" name="Google Shape;180;p26"/>
          <p:cNvSpPr/>
          <p:nvPr/>
        </p:nvSpPr>
        <p:spPr>
          <a:xfrm>
            <a:off x="664607" y="1898452"/>
            <a:ext cx="13301186" cy="647938"/>
          </a:xfrm>
          <a:prstGeom prst="roundRect">
            <a:avLst>
              <a:gd fmla="val 1411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6"/>
          <p:cNvSpPr/>
          <p:nvPr/>
        </p:nvSpPr>
        <p:spPr>
          <a:xfrm>
            <a:off x="679847" y="1913692"/>
            <a:ext cx="431959" cy="617458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6"/>
          <p:cNvSpPr/>
          <p:nvPr/>
        </p:nvSpPr>
        <p:spPr>
          <a:xfrm>
            <a:off x="811054" y="2121218"/>
            <a:ext cx="161925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250" u="none" cap="none" strike="noStrike"/>
          </a:p>
        </p:txBody>
      </p:sp>
      <p:sp>
        <p:nvSpPr>
          <p:cNvPr id="183" name="Google Shape;183;p26"/>
          <p:cNvSpPr/>
          <p:nvPr/>
        </p:nvSpPr>
        <p:spPr>
          <a:xfrm>
            <a:off x="1170503" y="2021681"/>
            <a:ext cx="2021443" cy="168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Preparación de citas de listado</a:t>
            </a:r>
            <a:endParaRPr b="0" i="0" sz="1050" u="none" cap="none" strike="noStrike"/>
          </a:p>
        </p:txBody>
      </p:sp>
      <p:sp>
        <p:nvSpPr>
          <p:cNvPr id="184" name="Google Shape;184;p26"/>
          <p:cNvSpPr/>
          <p:nvPr/>
        </p:nvSpPr>
        <p:spPr>
          <a:xfrm>
            <a:off x="664607" y="2605088"/>
            <a:ext cx="13301186" cy="647938"/>
          </a:xfrm>
          <a:prstGeom prst="roundRect">
            <a:avLst>
              <a:gd fmla="val 1411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6"/>
          <p:cNvSpPr/>
          <p:nvPr/>
        </p:nvSpPr>
        <p:spPr>
          <a:xfrm>
            <a:off x="679847" y="2620328"/>
            <a:ext cx="431959" cy="617458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6"/>
          <p:cNvSpPr/>
          <p:nvPr/>
        </p:nvSpPr>
        <p:spPr>
          <a:xfrm>
            <a:off x="811054" y="2827853"/>
            <a:ext cx="161925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250" u="none" cap="none" strike="noStrike"/>
          </a:p>
        </p:txBody>
      </p:sp>
      <p:sp>
        <p:nvSpPr>
          <p:cNvPr id="187" name="Google Shape;187;p26"/>
          <p:cNvSpPr/>
          <p:nvPr/>
        </p:nvSpPr>
        <p:spPr>
          <a:xfrm>
            <a:off x="1170503" y="2728317"/>
            <a:ext cx="1577816" cy="168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Psicología del vendedor</a:t>
            </a:r>
            <a:endParaRPr b="0" i="0" sz="1050" u="none" cap="none" strike="noStrike"/>
          </a:p>
        </p:txBody>
      </p:sp>
      <p:sp>
        <p:nvSpPr>
          <p:cNvPr id="188" name="Google Shape;188;p26"/>
          <p:cNvSpPr/>
          <p:nvPr/>
        </p:nvSpPr>
        <p:spPr>
          <a:xfrm>
            <a:off x="664607" y="3311723"/>
            <a:ext cx="13301186" cy="647938"/>
          </a:xfrm>
          <a:prstGeom prst="roundRect">
            <a:avLst>
              <a:gd fmla="val 1411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6"/>
          <p:cNvSpPr/>
          <p:nvPr/>
        </p:nvSpPr>
        <p:spPr>
          <a:xfrm>
            <a:off x="679847" y="3326963"/>
            <a:ext cx="431959" cy="617458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6"/>
          <p:cNvSpPr/>
          <p:nvPr/>
        </p:nvSpPr>
        <p:spPr>
          <a:xfrm>
            <a:off x="811054" y="3534489"/>
            <a:ext cx="161925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250" u="none" cap="none" strike="noStrike"/>
          </a:p>
        </p:txBody>
      </p:sp>
      <p:sp>
        <p:nvSpPr>
          <p:cNvPr id="191" name="Google Shape;191;p26"/>
          <p:cNvSpPr/>
          <p:nvPr/>
        </p:nvSpPr>
        <p:spPr>
          <a:xfrm>
            <a:off x="1170503" y="3434953"/>
            <a:ext cx="1671280" cy="168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Psicología del comprador</a:t>
            </a:r>
            <a:endParaRPr b="0" i="0" sz="1050" u="none" cap="none" strike="noStrike"/>
          </a:p>
        </p:txBody>
      </p:sp>
      <p:sp>
        <p:nvSpPr>
          <p:cNvPr id="192" name="Google Shape;192;p26"/>
          <p:cNvSpPr/>
          <p:nvPr/>
        </p:nvSpPr>
        <p:spPr>
          <a:xfrm>
            <a:off x="664607" y="4018359"/>
            <a:ext cx="13301186" cy="647938"/>
          </a:xfrm>
          <a:prstGeom prst="roundRect">
            <a:avLst>
              <a:gd fmla="val 1411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679847" y="4033599"/>
            <a:ext cx="431959" cy="617458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6"/>
          <p:cNvSpPr/>
          <p:nvPr/>
        </p:nvSpPr>
        <p:spPr>
          <a:xfrm>
            <a:off x="811054" y="4241125"/>
            <a:ext cx="161925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250" u="none" cap="none" strike="noStrike"/>
          </a:p>
        </p:txBody>
      </p:sp>
      <p:sp>
        <p:nvSpPr>
          <p:cNvPr id="195" name="Google Shape;195;p26"/>
          <p:cNvSpPr/>
          <p:nvPr/>
        </p:nvSpPr>
        <p:spPr>
          <a:xfrm>
            <a:off x="1170503" y="4141589"/>
            <a:ext cx="2184559" cy="168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Manejo de objeciones avanzadas</a:t>
            </a:r>
            <a:endParaRPr b="0" i="0" sz="1050" u="none" cap="none" strike="noStrike"/>
          </a:p>
        </p:txBody>
      </p:sp>
      <p:sp>
        <p:nvSpPr>
          <p:cNvPr id="196" name="Google Shape;196;p26"/>
          <p:cNvSpPr/>
          <p:nvPr/>
        </p:nvSpPr>
        <p:spPr>
          <a:xfrm>
            <a:off x="664607" y="4724995"/>
            <a:ext cx="13301186" cy="647938"/>
          </a:xfrm>
          <a:prstGeom prst="roundRect">
            <a:avLst>
              <a:gd fmla="val 1411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6"/>
          <p:cNvSpPr/>
          <p:nvPr/>
        </p:nvSpPr>
        <p:spPr>
          <a:xfrm>
            <a:off x="679847" y="4740235"/>
            <a:ext cx="431959" cy="617458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6"/>
          <p:cNvSpPr/>
          <p:nvPr/>
        </p:nvSpPr>
        <p:spPr>
          <a:xfrm>
            <a:off x="811054" y="4947761"/>
            <a:ext cx="161925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1250" u="none" cap="none" strike="noStrike"/>
          </a:p>
        </p:txBody>
      </p:sp>
      <p:sp>
        <p:nvSpPr>
          <p:cNvPr id="199" name="Google Shape;199;p26"/>
          <p:cNvSpPr/>
          <p:nvPr/>
        </p:nvSpPr>
        <p:spPr>
          <a:xfrm>
            <a:off x="1170503" y="4848225"/>
            <a:ext cx="1806297" cy="168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Análisis de mercado y CMA</a:t>
            </a:r>
            <a:endParaRPr b="0" i="0" sz="1050" u="none" cap="none" strike="noStrike"/>
          </a:p>
        </p:txBody>
      </p:sp>
      <p:sp>
        <p:nvSpPr>
          <p:cNvPr id="200" name="Google Shape;200;p26"/>
          <p:cNvSpPr/>
          <p:nvPr/>
        </p:nvSpPr>
        <p:spPr>
          <a:xfrm>
            <a:off x="664607" y="5431631"/>
            <a:ext cx="13301186" cy="647938"/>
          </a:xfrm>
          <a:prstGeom prst="roundRect">
            <a:avLst>
              <a:gd fmla="val 1411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6"/>
          <p:cNvSpPr/>
          <p:nvPr/>
        </p:nvSpPr>
        <p:spPr>
          <a:xfrm>
            <a:off x="679847" y="5446871"/>
            <a:ext cx="431959" cy="617458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/>
          <p:nvPr/>
        </p:nvSpPr>
        <p:spPr>
          <a:xfrm>
            <a:off x="811054" y="5654397"/>
            <a:ext cx="161925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0" i="0" sz="1250" u="none" cap="none" strike="noStrike"/>
          </a:p>
        </p:txBody>
      </p:sp>
      <p:sp>
        <p:nvSpPr>
          <p:cNvPr id="203" name="Google Shape;203;p26"/>
          <p:cNvSpPr/>
          <p:nvPr/>
        </p:nvSpPr>
        <p:spPr>
          <a:xfrm>
            <a:off x="1170503" y="5554861"/>
            <a:ext cx="1357432" cy="168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Negociación y cierre</a:t>
            </a:r>
            <a:endParaRPr b="0" i="0" sz="1050" u="none" cap="none" strike="noStrike"/>
          </a:p>
        </p:txBody>
      </p:sp>
      <p:sp>
        <p:nvSpPr>
          <p:cNvPr id="204" name="Google Shape;204;p26"/>
          <p:cNvSpPr/>
          <p:nvPr/>
        </p:nvSpPr>
        <p:spPr>
          <a:xfrm>
            <a:off x="664607" y="6138267"/>
            <a:ext cx="13301186" cy="647938"/>
          </a:xfrm>
          <a:prstGeom prst="roundRect">
            <a:avLst>
              <a:gd fmla="val 1411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6"/>
          <p:cNvSpPr/>
          <p:nvPr/>
        </p:nvSpPr>
        <p:spPr>
          <a:xfrm>
            <a:off x="679847" y="6153507"/>
            <a:ext cx="431959" cy="617458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6"/>
          <p:cNvSpPr/>
          <p:nvPr/>
        </p:nvSpPr>
        <p:spPr>
          <a:xfrm>
            <a:off x="811054" y="6361033"/>
            <a:ext cx="161925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0" i="0" sz="1250" u="none" cap="none" strike="noStrike"/>
          </a:p>
        </p:txBody>
      </p:sp>
      <p:sp>
        <p:nvSpPr>
          <p:cNvPr id="207" name="Google Shape;207;p26"/>
          <p:cNvSpPr/>
          <p:nvPr/>
        </p:nvSpPr>
        <p:spPr>
          <a:xfrm>
            <a:off x="1170503" y="6261497"/>
            <a:ext cx="1700808" cy="168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IA Aplicada a cada Clínica</a:t>
            </a:r>
            <a:endParaRPr b="0" i="0" sz="1050" u="none" cap="none" strike="noStrike"/>
          </a:p>
        </p:txBody>
      </p:sp>
      <p:sp>
        <p:nvSpPr>
          <p:cNvPr id="208" name="Google Shape;208;p26"/>
          <p:cNvSpPr/>
          <p:nvPr/>
        </p:nvSpPr>
        <p:spPr>
          <a:xfrm>
            <a:off x="1170503" y="6465451"/>
            <a:ext cx="1267206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SzPts val="850"/>
              <a:buFont typeface="Arial"/>
              <a:buNone/>
            </a:pPr>
            <a:r>
              <a:t/>
            </a:r>
            <a:endParaRPr b="0" i="0" sz="850" u="none" cap="none" strike="noStrike"/>
          </a:p>
        </p:txBody>
      </p:sp>
      <p:sp>
        <p:nvSpPr>
          <p:cNvPr id="209" name="Google Shape;209;p26"/>
          <p:cNvSpPr/>
          <p:nvPr/>
        </p:nvSpPr>
        <p:spPr>
          <a:xfrm>
            <a:off x="664607" y="6844903"/>
            <a:ext cx="13301186" cy="647938"/>
          </a:xfrm>
          <a:prstGeom prst="roundRect">
            <a:avLst>
              <a:gd fmla="val 1411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"/>
          <p:cNvSpPr/>
          <p:nvPr/>
        </p:nvSpPr>
        <p:spPr>
          <a:xfrm>
            <a:off x="679847" y="6860143"/>
            <a:ext cx="431959" cy="617458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811054" y="7067669"/>
            <a:ext cx="161925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0" i="0" sz="1250" u="none" cap="none" strike="noStrike"/>
          </a:p>
        </p:txBody>
      </p:sp>
      <p:sp>
        <p:nvSpPr>
          <p:cNvPr id="212" name="Google Shape;212;p26"/>
          <p:cNvSpPr/>
          <p:nvPr/>
        </p:nvSpPr>
        <p:spPr>
          <a:xfrm>
            <a:off x="1170503" y="6968133"/>
            <a:ext cx="1350050" cy="168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Scripts y Role plays</a:t>
            </a:r>
            <a:endParaRPr b="0" i="0" sz="1050" u="none" cap="none" strike="noStrike"/>
          </a:p>
        </p:txBody>
      </p:sp>
      <p:sp>
        <p:nvSpPr>
          <p:cNvPr id="213" name="Google Shape;213;p26"/>
          <p:cNvSpPr/>
          <p:nvPr/>
        </p:nvSpPr>
        <p:spPr>
          <a:xfrm>
            <a:off x="1170503" y="7172087"/>
            <a:ext cx="1267206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SzPts val="850"/>
              <a:buFont typeface="Arial"/>
              <a:buNone/>
            </a:pPr>
            <a:r>
              <a:t/>
            </a:r>
            <a:endParaRPr b="0" i="0" sz="850" u="none" cap="none" strike="noStrike"/>
          </a:p>
        </p:txBody>
      </p:sp>
      <p:sp>
        <p:nvSpPr>
          <p:cNvPr id="214" name="Google Shape;214;p26"/>
          <p:cNvSpPr/>
          <p:nvPr/>
        </p:nvSpPr>
        <p:spPr>
          <a:xfrm>
            <a:off x="664607" y="7558921"/>
            <a:ext cx="133011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Estas clínicas fortalecen </a:t>
            </a:r>
            <a:r>
              <a:rPr b="1" i="0" lang="en-US" sz="8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las habilidades comerciales del asesor</a:t>
            </a:r>
            <a:r>
              <a:rPr b="0" i="0" lang="en-US" sz="8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8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/>
          <p:nvPr/>
        </p:nvSpPr>
        <p:spPr>
          <a:xfrm>
            <a:off x="793790" y="1150382"/>
            <a:ext cx="6682383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Sistema de métricas diarias</a:t>
            </a:r>
            <a:endParaRPr b="0" i="0" sz="3900" u="none" cap="none" strike="noStrike"/>
          </a:p>
        </p:txBody>
      </p:sp>
      <p:sp>
        <p:nvSpPr>
          <p:cNvPr id="221" name="Google Shape;221;p27"/>
          <p:cNvSpPr/>
          <p:nvPr/>
        </p:nvSpPr>
        <p:spPr>
          <a:xfrm>
            <a:off x="793790" y="2167295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Cada asesor tiene el compromiso de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llenar  un formulario con sus métricas diariamente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b="0" i="0" sz="1550" u="none" cap="none" strike="noStrike"/>
          </a:p>
        </p:txBody>
      </p:sp>
      <p:pic>
        <p:nvPicPr>
          <p:cNvPr descr="preencoded.png" id="222" name="Google Shape;2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708077"/>
            <a:ext cx="496133" cy="49613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/>
          <p:nvPr/>
        </p:nvSpPr>
        <p:spPr>
          <a:xfrm>
            <a:off x="1537930" y="2708077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Conversaciones</a:t>
            </a:r>
            <a:endParaRPr b="0" i="0" sz="1950" u="none" cap="none" strike="noStrike"/>
          </a:p>
        </p:txBody>
      </p:sp>
      <p:sp>
        <p:nvSpPr>
          <p:cNvPr id="224" name="Google Shape;224;p27"/>
          <p:cNvSpPr/>
          <p:nvPr/>
        </p:nvSpPr>
        <p:spPr>
          <a:xfrm>
            <a:off x="1537930" y="3137297"/>
            <a:ext cx="3438049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Número de conversaciones realizadas</a:t>
            </a:r>
            <a:endParaRPr b="0" i="0" sz="1550" u="none" cap="none" strike="noStrike"/>
          </a:p>
        </p:txBody>
      </p:sp>
      <p:pic>
        <p:nvPicPr>
          <p:cNvPr descr="preencoded.png" id="225" name="Google Shape;22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3986" y="2708077"/>
            <a:ext cx="496133" cy="49613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/>
          <p:nvPr/>
        </p:nvSpPr>
        <p:spPr>
          <a:xfrm>
            <a:off x="5968127" y="2708077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Contactos</a:t>
            </a:r>
            <a:endParaRPr b="0" i="0" sz="1950" u="none" cap="none" strike="noStrike"/>
          </a:p>
        </p:txBody>
      </p:sp>
      <p:sp>
        <p:nvSpPr>
          <p:cNvPr id="227" name="Google Shape;227;p27"/>
          <p:cNvSpPr/>
          <p:nvPr/>
        </p:nvSpPr>
        <p:spPr>
          <a:xfrm>
            <a:off x="5968127" y="3137297"/>
            <a:ext cx="3438168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Contactos realizados en el día</a:t>
            </a:r>
            <a:endParaRPr b="0" i="0" sz="1550" u="none" cap="none" strike="noStrike"/>
          </a:p>
        </p:txBody>
      </p:sp>
      <p:pic>
        <p:nvPicPr>
          <p:cNvPr descr="preencoded.png" id="228" name="Google Shape;22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54302" y="2708077"/>
            <a:ext cx="496133" cy="49613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7"/>
          <p:cNvSpPr/>
          <p:nvPr/>
        </p:nvSpPr>
        <p:spPr>
          <a:xfrm>
            <a:off x="10398443" y="2708077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Citas agendadas</a:t>
            </a:r>
            <a:endParaRPr b="0" i="0" sz="1950" u="none" cap="none" strike="noStrike"/>
          </a:p>
        </p:txBody>
      </p:sp>
      <p:sp>
        <p:nvSpPr>
          <p:cNvPr id="230" name="Google Shape;230;p27"/>
          <p:cNvSpPr/>
          <p:nvPr/>
        </p:nvSpPr>
        <p:spPr>
          <a:xfrm>
            <a:off x="10398443" y="3137297"/>
            <a:ext cx="3438168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Citas programadas con clientes</a:t>
            </a:r>
            <a:endParaRPr b="0" i="0" sz="1550" u="none" cap="none" strike="noStrike"/>
          </a:p>
        </p:txBody>
      </p:sp>
      <p:pic>
        <p:nvPicPr>
          <p:cNvPr descr="preencoded.png" id="231" name="Google Shape;23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4169212"/>
            <a:ext cx="496133" cy="496133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7"/>
          <p:cNvSpPr/>
          <p:nvPr/>
        </p:nvSpPr>
        <p:spPr>
          <a:xfrm>
            <a:off x="1537930" y="4169212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Citas realizadas</a:t>
            </a:r>
            <a:endParaRPr b="0" i="0" sz="1950" u="none" cap="none" strike="noStrike"/>
          </a:p>
        </p:txBody>
      </p:sp>
      <p:sp>
        <p:nvSpPr>
          <p:cNvPr id="233" name="Google Shape;233;p27"/>
          <p:cNvSpPr/>
          <p:nvPr/>
        </p:nvSpPr>
        <p:spPr>
          <a:xfrm>
            <a:off x="1537930" y="4598432"/>
            <a:ext cx="3438049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Citas efectivamente completadas</a:t>
            </a:r>
            <a:endParaRPr b="0" i="0" sz="1550" u="none" cap="none" strike="noStrike"/>
          </a:p>
        </p:txBody>
      </p:sp>
      <p:pic>
        <p:nvPicPr>
          <p:cNvPr descr="preencoded.png" id="234" name="Google Shape;234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23986" y="4169212"/>
            <a:ext cx="496133" cy="49613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7"/>
          <p:cNvSpPr/>
          <p:nvPr/>
        </p:nvSpPr>
        <p:spPr>
          <a:xfrm>
            <a:off x="5968127" y="4169212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Oportunidades</a:t>
            </a:r>
            <a:endParaRPr b="0" i="0" sz="1950" u="none" cap="none" strike="noStrike"/>
          </a:p>
        </p:txBody>
      </p:sp>
      <p:sp>
        <p:nvSpPr>
          <p:cNvPr id="236" name="Google Shape;236;p27"/>
          <p:cNvSpPr/>
          <p:nvPr/>
        </p:nvSpPr>
        <p:spPr>
          <a:xfrm>
            <a:off x="5968127" y="4598432"/>
            <a:ext cx="3438168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Oportunidades generadas de negocio</a:t>
            </a:r>
            <a:endParaRPr b="0" i="0" sz="1550" u="none" cap="none" strike="noStrike"/>
          </a:p>
        </p:txBody>
      </p:sp>
      <p:sp>
        <p:nvSpPr>
          <p:cNvPr id="237" name="Google Shape;237;p27"/>
          <p:cNvSpPr/>
          <p:nvPr/>
        </p:nvSpPr>
        <p:spPr>
          <a:xfrm>
            <a:off x="793790" y="5456753"/>
            <a:ext cx="130428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Estas métricas son fundamentales porque permiten: medir actividad real, identificar problemas rápidamente y corregir rumbo semanalmente.</a:t>
            </a:r>
            <a:endParaRPr b="0" i="0" sz="1550" u="none" cap="none" strike="noStrike"/>
          </a:p>
        </p:txBody>
      </p:sp>
      <p:sp>
        <p:nvSpPr>
          <p:cNvPr id="238" name="Google Shape;238;p27"/>
          <p:cNvSpPr/>
          <p:nvPr/>
        </p:nvSpPr>
        <p:spPr>
          <a:xfrm>
            <a:off x="1091446" y="6538317"/>
            <a:ext cx="12745164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Sin métricas claras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no hay control del negocio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50" u="none" cap="none" strike="noStrike"/>
          </a:p>
        </p:txBody>
      </p:sp>
      <p:sp>
        <p:nvSpPr>
          <p:cNvPr id="239" name="Google Shape;239;p27"/>
          <p:cNvSpPr/>
          <p:nvPr/>
        </p:nvSpPr>
        <p:spPr>
          <a:xfrm>
            <a:off x="793790" y="6315075"/>
            <a:ext cx="22860" cy="764024"/>
          </a:xfrm>
          <a:prstGeom prst="rect">
            <a:avLst/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/>
          <p:nvPr/>
        </p:nvSpPr>
        <p:spPr>
          <a:xfrm>
            <a:off x="793790" y="1988701"/>
            <a:ext cx="9428083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Sistema de seguimiento por semáforos</a:t>
            </a:r>
            <a:endParaRPr b="0" i="0" sz="3900" u="none" cap="none" strike="noStrike"/>
          </a:p>
        </p:txBody>
      </p:sp>
      <p:sp>
        <p:nvSpPr>
          <p:cNvPr id="246" name="Google Shape;246;p28"/>
          <p:cNvSpPr/>
          <p:nvPr/>
        </p:nvSpPr>
        <p:spPr>
          <a:xfrm>
            <a:off x="793790" y="3005614"/>
            <a:ext cx="130428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El programa se manejará bajo un sistema de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semáforos de productividad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 Este sistema permite identificar rápidamente el nivel de ejecución de cada asesor.</a:t>
            </a:r>
            <a:endParaRPr b="0" i="0" sz="1550" u="none" cap="none" strike="noStrike"/>
          </a:p>
        </p:txBody>
      </p:sp>
      <p:sp>
        <p:nvSpPr>
          <p:cNvPr id="247" name="Google Shape;247;p28"/>
          <p:cNvSpPr/>
          <p:nvPr/>
        </p:nvSpPr>
        <p:spPr>
          <a:xfrm>
            <a:off x="793790" y="3863935"/>
            <a:ext cx="4215289" cy="2376845"/>
          </a:xfrm>
          <a:prstGeom prst="roundRect">
            <a:avLst>
              <a:gd fmla="val 385" name="adj"/>
            </a:avLst>
          </a:prstGeom>
          <a:solidFill>
            <a:srgbClr val="1A7A1A"/>
          </a:solidFill>
          <a:ln cap="flat" cmpd="sng" w="9525">
            <a:solidFill>
              <a:srgbClr val="339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"/>
          <p:cNvSpPr/>
          <p:nvPr/>
        </p:nvSpPr>
        <p:spPr>
          <a:xfrm>
            <a:off x="999768" y="4069913"/>
            <a:ext cx="2480905" cy="3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🟢</a:t>
            </a: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Verde</a:t>
            </a:r>
            <a:endParaRPr b="0" i="0" sz="1950" u="none" cap="none" strike="noStrike"/>
          </a:p>
        </p:txBody>
      </p:sp>
      <p:sp>
        <p:nvSpPr>
          <p:cNvPr id="249" name="Google Shape;249;p28"/>
          <p:cNvSpPr/>
          <p:nvPr/>
        </p:nvSpPr>
        <p:spPr>
          <a:xfrm>
            <a:off x="999768" y="4506754"/>
            <a:ext cx="3803333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asesor está cumpliendo:</a:t>
            </a:r>
            <a:endParaRPr b="0" i="0" sz="1550" u="none" cap="none" strike="noStrike"/>
          </a:p>
        </p:txBody>
      </p:sp>
      <p:sp>
        <p:nvSpPr>
          <p:cNvPr id="250" name="Google Shape;250;p28"/>
          <p:cNvSpPr/>
          <p:nvPr/>
        </p:nvSpPr>
        <p:spPr>
          <a:xfrm>
            <a:off x="999768" y="4943356"/>
            <a:ext cx="3803333" cy="1091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Métricas diarias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Generación de conversaciones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Participación en el programa</a:t>
            </a:r>
            <a:endParaRPr b="0" i="0" sz="1550" u="none" cap="none" strike="noStrike"/>
          </a:p>
        </p:txBody>
      </p:sp>
      <p:sp>
        <p:nvSpPr>
          <p:cNvPr id="251" name="Google Shape;251;p28"/>
          <p:cNvSpPr/>
          <p:nvPr/>
        </p:nvSpPr>
        <p:spPr>
          <a:xfrm>
            <a:off x="5207437" y="3863935"/>
            <a:ext cx="4215408" cy="2376845"/>
          </a:xfrm>
          <a:prstGeom prst="roundRect">
            <a:avLst>
              <a:gd fmla="val 385" name="adj"/>
            </a:avLst>
          </a:prstGeom>
          <a:solidFill>
            <a:srgbClr val="B8860B"/>
          </a:solidFill>
          <a:ln cap="flat" cmpd="sng" w="9525">
            <a:solidFill>
              <a:srgbClr val="9E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8"/>
          <p:cNvSpPr/>
          <p:nvPr/>
        </p:nvSpPr>
        <p:spPr>
          <a:xfrm>
            <a:off x="5413415" y="4069913"/>
            <a:ext cx="2480905" cy="3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🟡 Amarillo</a:t>
            </a:r>
            <a:endParaRPr b="0" i="0" sz="1950" u="none" cap="none" strike="noStrike"/>
          </a:p>
        </p:txBody>
      </p:sp>
      <p:sp>
        <p:nvSpPr>
          <p:cNvPr id="253" name="Google Shape;253;p28"/>
          <p:cNvSpPr/>
          <p:nvPr/>
        </p:nvSpPr>
        <p:spPr>
          <a:xfrm>
            <a:off x="5413415" y="4506754"/>
            <a:ext cx="3803452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asesor presenta desviaciones:</a:t>
            </a:r>
            <a:endParaRPr b="0" i="0" sz="1550" u="none" cap="none" strike="noStrike"/>
          </a:p>
        </p:txBody>
      </p:sp>
      <p:sp>
        <p:nvSpPr>
          <p:cNvPr id="254" name="Google Shape;254;p28"/>
          <p:cNvSpPr/>
          <p:nvPr/>
        </p:nvSpPr>
        <p:spPr>
          <a:xfrm>
            <a:off x="5413415" y="4943356"/>
            <a:ext cx="3803452" cy="1091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Baja generación de conversaciones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Métricas incompletas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Ejecución inconsistente</a:t>
            </a:r>
            <a:endParaRPr b="0" i="0" sz="1550" u="none" cap="none" strike="noStrike"/>
          </a:p>
        </p:txBody>
      </p:sp>
      <p:sp>
        <p:nvSpPr>
          <p:cNvPr id="255" name="Google Shape;255;p28"/>
          <p:cNvSpPr/>
          <p:nvPr/>
        </p:nvSpPr>
        <p:spPr>
          <a:xfrm>
            <a:off x="9621203" y="3863935"/>
            <a:ext cx="4215289" cy="2376845"/>
          </a:xfrm>
          <a:prstGeom prst="roundRect">
            <a:avLst>
              <a:gd fmla="val 385" name="adj"/>
            </a:avLst>
          </a:prstGeom>
          <a:solidFill>
            <a:srgbClr val="DA1B2E"/>
          </a:solidFill>
          <a:ln cap="flat" cmpd="sng" w="9525">
            <a:solidFill>
              <a:srgbClr val="F33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9827181" y="4069913"/>
            <a:ext cx="2480905" cy="3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🔴</a:t>
            </a: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Rojo</a:t>
            </a:r>
            <a:endParaRPr b="0" i="0" sz="1950" u="none" cap="none" strike="noStrike"/>
          </a:p>
        </p:txBody>
      </p:sp>
      <p:sp>
        <p:nvSpPr>
          <p:cNvPr id="257" name="Google Shape;257;p28"/>
          <p:cNvSpPr/>
          <p:nvPr/>
        </p:nvSpPr>
        <p:spPr>
          <a:xfrm>
            <a:off x="9827181" y="4506754"/>
            <a:ext cx="3803333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asesor no está cumpliendo con el estándar mínimo del programa.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9"/>
          <p:cNvSpPr/>
          <p:nvPr/>
        </p:nvSpPr>
        <p:spPr>
          <a:xfrm>
            <a:off x="793790" y="1720929"/>
            <a:ext cx="9108519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Regla de permanencia en el programa</a:t>
            </a:r>
            <a:endParaRPr b="0" i="0" sz="3900" u="none" cap="none" strike="noStrike"/>
          </a:p>
        </p:txBody>
      </p:sp>
      <p:sp>
        <p:nvSpPr>
          <p:cNvPr id="264" name="Google Shape;264;p29"/>
          <p:cNvSpPr/>
          <p:nvPr/>
        </p:nvSpPr>
        <p:spPr>
          <a:xfrm>
            <a:off x="793790" y="2737842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Activa 90 requiere compromiso real. Por esa razón el programa tiene una regla clara:</a:t>
            </a:r>
            <a:endParaRPr b="0" i="0" sz="1550" u="none" cap="none" strike="noStrike"/>
          </a:p>
        </p:txBody>
      </p:sp>
      <p:sp>
        <p:nvSpPr>
          <p:cNvPr id="265" name="Google Shape;265;p29"/>
          <p:cNvSpPr/>
          <p:nvPr/>
        </p:nvSpPr>
        <p:spPr>
          <a:xfrm>
            <a:off x="1091446" y="3501866"/>
            <a:ext cx="12745164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Si un asesor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no está cumpliendo con las métricas y el estándar del programa para la semana 4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, quedará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fuera del programa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50" u="none" cap="none" strike="noStrike"/>
          </a:p>
        </p:txBody>
      </p:sp>
      <p:sp>
        <p:nvSpPr>
          <p:cNvPr id="266" name="Google Shape;266;p29"/>
          <p:cNvSpPr/>
          <p:nvPr/>
        </p:nvSpPr>
        <p:spPr>
          <a:xfrm>
            <a:off x="793790" y="3278624"/>
            <a:ext cx="22860" cy="764024"/>
          </a:xfrm>
          <a:prstGeom prst="rect">
            <a:avLst/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9"/>
          <p:cNvSpPr/>
          <p:nvPr/>
        </p:nvSpPr>
        <p:spPr>
          <a:xfrm>
            <a:off x="793790" y="4265890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Esto es importante porque Activa 90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no es un espacio para observadores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50" u="none" cap="none" strike="noStrike"/>
          </a:p>
        </p:txBody>
      </p:sp>
      <p:sp>
        <p:nvSpPr>
          <p:cNvPr id="268" name="Google Shape;268;p29"/>
          <p:cNvSpPr/>
          <p:nvPr/>
        </p:nvSpPr>
        <p:spPr>
          <a:xfrm>
            <a:off x="793790" y="4806672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Es un espacio para asesores que:</a:t>
            </a:r>
            <a:endParaRPr b="0" i="0" sz="1550" u="none" cap="none" strike="noStrike"/>
          </a:p>
        </p:txBody>
      </p:sp>
      <p:pic>
        <p:nvPicPr>
          <p:cNvPr descr="preencoded.png" id="269" name="Google Shape;2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204" y="5353526"/>
            <a:ext cx="297656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9"/>
          <p:cNvSpPr/>
          <p:nvPr/>
        </p:nvSpPr>
        <p:spPr>
          <a:xfrm>
            <a:off x="1438632" y="5347454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Quieren crecer</a:t>
            </a:r>
            <a:endParaRPr b="0" i="0" sz="1950" u="none" cap="none" strike="noStrike"/>
          </a:p>
        </p:txBody>
      </p:sp>
      <p:pic>
        <p:nvPicPr>
          <p:cNvPr descr="preencoded.png" id="271" name="Google Shape;27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8400" y="5353526"/>
            <a:ext cx="297656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9"/>
          <p:cNvSpPr/>
          <p:nvPr/>
        </p:nvSpPr>
        <p:spPr>
          <a:xfrm>
            <a:off x="5868829" y="5347454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Quieren producir</a:t>
            </a:r>
            <a:endParaRPr b="0" i="0" sz="1950" u="none" cap="none" strike="noStrike"/>
          </a:p>
        </p:txBody>
      </p:sp>
      <p:pic>
        <p:nvPicPr>
          <p:cNvPr descr="preencoded.png" id="273" name="Google Shape;27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8716" y="5353526"/>
            <a:ext cx="297656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9"/>
          <p:cNvSpPr/>
          <p:nvPr/>
        </p:nvSpPr>
        <p:spPr>
          <a:xfrm>
            <a:off x="10299144" y="5347454"/>
            <a:ext cx="3537466" cy="620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Están dispuestos a ejecutar diariamente</a:t>
            </a:r>
            <a:endParaRPr b="0" i="0" sz="1950" u="none" cap="none" strike="noStrike"/>
          </a:p>
        </p:txBody>
      </p:sp>
      <p:sp>
        <p:nvSpPr>
          <p:cNvPr id="275" name="Google Shape;275;p29"/>
          <p:cNvSpPr/>
          <p:nvPr/>
        </p:nvSpPr>
        <p:spPr>
          <a:xfrm>
            <a:off x="793790" y="6191012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El programa está diseñado para quienes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están comprometidos con su negocio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/>
          <p:nvPr/>
        </p:nvSpPr>
        <p:spPr>
          <a:xfrm>
            <a:off x="793790" y="1408271"/>
            <a:ext cx="8710493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Resultados esperados del programa</a:t>
            </a:r>
            <a:endParaRPr b="0" i="0" sz="3900" u="none" cap="none" strike="noStrike"/>
          </a:p>
        </p:txBody>
      </p:sp>
      <p:sp>
        <p:nvSpPr>
          <p:cNvPr id="282" name="Google Shape;282;p30"/>
          <p:cNvSpPr/>
          <p:nvPr/>
        </p:nvSpPr>
        <p:spPr>
          <a:xfrm>
            <a:off x="793790" y="2425184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El objetivo del programa no es solamente actividad. El objetivo es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producción real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50" u="none" cap="none" strike="noStrike"/>
          </a:p>
        </p:txBody>
      </p:sp>
      <p:sp>
        <p:nvSpPr>
          <p:cNvPr id="283" name="Google Shape;283;p30"/>
          <p:cNvSpPr/>
          <p:nvPr/>
        </p:nvSpPr>
        <p:spPr>
          <a:xfrm>
            <a:off x="793790" y="2965966"/>
            <a:ext cx="130428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Si el asesor cumple con las actividades del programa — conversaciones, citas, seguimiento y práctica de habilidades — al final de los 90 días debería estar logrando al menos uno de estos dos resultados:</a:t>
            </a:r>
            <a:endParaRPr b="0" i="0" sz="1550" u="none" cap="none" strike="noStrike"/>
          </a:p>
        </p:txBody>
      </p:sp>
      <p:sp>
        <p:nvSpPr>
          <p:cNvPr id="284" name="Google Shape;284;p30"/>
          <p:cNvSpPr/>
          <p:nvPr/>
        </p:nvSpPr>
        <p:spPr>
          <a:xfrm>
            <a:off x="793790" y="3824288"/>
            <a:ext cx="13042821" cy="1468874"/>
          </a:xfrm>
          <a:prstGeom prst="roundRect">
            <a:avLst>
              <a:gd fmla="val 623" name="adj"/>
            </a:avLst>
          </a:prstGeom>
          <a:solidFill>
            <a:srgbClr val="F2EEEE"/>
          </a:solidFill>
          <a:ln cap="flat" cmpd="sng" w="95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0"/>
          <p:cNvSpPr/>
          <p:nvPr/>
        </p:nvSpPr>
        <p:spPr>
          <a:xfrm>
            <a:off x="801410" y="3831908"/>
            <a:ext cx="6513790" cy="1453634"/>
          </a:xfrm>
          <a:prstGeom prst="roundRect">
            <a:avLst>
              <a:gd fmla="val 629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0"/>
          <p:cNvSpPr/>
          <p:nvPr/>
        </p:nvSpPr>
        <p:spPr>
          <a:xfrm>
            <a:off x="999768" y="4030266"/>
            <a:ext cx="2744272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1 a 2 cierres realizados</a:t>
            </a:r>
            <a:endParaRPr b="0" i="0" sz="1950" u="none" cap="none" strike="noStrike"/>
          </a:p>
        </p:txBody>
      </p:sp>
      <p:sp>
        <p:nvSpPr>
          <p:cNvPr id="287" name="Google Shape;287;p30"/>
          <p:cNvSpPr/>
          <p:nvPr/>
        </p:nvSpPr>
        <p:spPr>
          <a:xfrm>
            <a:off x="999768" y="4459486"/>
            <a:ext cx="6117074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Transacciones completadas al finalizar el programa</a:t>
            </a:r>
            <a:endParaRPr b="0" i="0" sz="1550" u="none" cap="none" strike="noStrike"/>
          </a:p>
        </p:txBody>
      </p:sp>
      <p:sp>
        <p:nvSpPr>
          <p:cNvPr id="288" name="Google Shape;288;p30"/>
          <p:cNvSpPr/>
          <p:nvPr/>
        </p:nvSpPr>
        <p:spPr>
          <a:xfrm>
            <a:off x="7315200" y="3831908"/>
            <a:ext cx="6513790" cy="1453634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0"/>
          <p:cNvSpPr/>
          <p:nvPr/>
        </p:nvSpPr>
        <p:spPr>
          <a:xfrm>
            <a:off x="7315200" y="3831908"/>
            <a:ext cx="22860" cy="1453634"/>
          </a:xfrm>
          <a:prstGeom prst="roundRect">
            <a:avLst>
              <a:gd fmla="val 40000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0"/>
          <p:cNvSpPr/>
          <p:nvPr/>
        </p:nvSpPr>
        <p:spPr>
          <a:xfrm>
            <a:off x="7513558" y="4030266"/>
            <a:ext cx="6117074" cy="620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1 a 2 contratos encaminados o en proceso de cierre</a:t>
            </a:r>
            <a:endParaRPr b="0" i="0" sz="1950" u="none" cap="none" strike="noStrike"/>
          </a:p>
        </p:txBody>
      </p:sp>
      <p:sp>
        <p:nvSpPr>
          <p:cNvPr id="291" name="Google Shape;291;p30"/>
          <p:cNvSpPr/>
          <p:nvPr/>
        </p:nvSpPr>
        <p:spPr>
          <a:xfrm>
            <a:off x="7513558" y="4769644"/>
            <a:ext cx="6117074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Oportunidades reales avanzando hacia el cierre</a:t>
            </a:r>
            <a:endParaRPr b="0" i="0" sz="1550" u="none" cap="none" strike="noStrike"/>
          </a:p>
        </p:txBody>
      </p:sp>
      <p:sp>
        <p:nvSpPr>
          <p:cNvPr id="292" name="Google Shape;292;p30"/>
          <p:cNvSpPr/>
          <p:nvPr/>
        </p:nvSpPr>
        <p:spPr>
          <a:xfrm>
            <a:off x="793790" y="5516404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Esto significa que el asesor: generó suficientes conversaciones, logró agendar citas y captó oportunidades reales de negocio.</a:t>
            </a:r>
            <a:endParaRPr b="0" i="0" sz="1550" u="none" cap="none" strike="noStrike"/>
          </a:p>
        </p:txBody>
      </p:sp>
      <p:sp>
        <p:nvSpPr>
          <p:cNvPr id="293" name="Google Shape;293;p30"/>
          <p:cNvSpPr/>
          <p:nvPr/>
        </p:nvSpPr>
        <p:spPr>
          <a:xfrm>
            <a:off x="1091446" y="6280428"/>
            <a:ext cx="12745164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El programa está diseñado para </a:t>
            </a:r>
            <a:r>
              <a:rPr b="1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convertir actividad diaria en transacciones reales</a:t>
            </a: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550" u="none" cap="none" strike="noStrike"/>
          </a:p>
        </p:txBody>
      </p:sp>
      <p:sp>
        <p:nvSpPr>
          <p:cNvPr id="294" name="Google Shape;294;p30"/>
          <p:cNvSpPr/>
          <p:nvPr/>
        </p:nvSpPr>
        <p:spPr>
          <a:xfrm>
            <a:off x="793790" y="6057186"/>
            <a:ext cx="22860" cy="764024"/>
          </a:xfrm>
          <a:prstGeom prst="rect">
            <a:avLst/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"/>
          <p:cNvSpPr/>
          <p:nvPr/>
        </p:nvSpPr>
        <p:spPr>
          <a:xfrm>
            <a:off x="793790" y="731877"/>
            <a:ext cx="6387346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Rol del Productivity Coach</a:t>
            </a:r>
            <a:endParaRPr b="0" i="0" sz="3900" u="none" cap="none" strike="noStrike"/>
          </a:p>
        </p:txBody>
      </p:sp>
      <p:sp>
        <p:nvSpPr>
          <p:cNvPr id="301" name="Google Shape;301;p31"/>
          <p:cNvSpPr/>
          <p:nvPr/>
        </p:nvSpPr>
        <p:spPr>
          <a:xfrm>
            <a:off x="793790" y="1748790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Dentro del programa el PC tiene cuatro responsabilidades principales:</a:t>
            </a:r>
            <a:endParaRPr b="0" i="0" sz="1550" u="none" cap="none" strike="noStrike"/>
          </a:p>
        </p:txBody>
      </p:sp>
      <p:sp>
        <p:nvSpPr>
          <p:cNvPr id="302" name="Google Shape;302;p31"/>
          <p:cNvSpPr/>
          <p:nvPr/>
        </p:nvSpPr>
        <p:spPr>
          <a:xfrm>
            <a:off x="793790" y="2587228"/>
            <a:ext cx="6422231" cy="1464112"/>
          </a:xfrm>
          <a:prstGeom prst="roundRect">
            <a:avLst>
              <a:gd fmla="val 7495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1"/>
          <p:cNvSpPr/>
          <p:nvPr/>
        </p:nvSpPr>
        <p:spPr>
          <a:xfrm>
            <a:off x="793790" y="2564368"/>
            <a:ext cx="6422231" cy="91440"/>
          </a:xfrm>
          <a:prstGeom prst="roundRect">
            <a:avLst>
              <a:gd fmla="val 10000" name="adj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1"/>
          <p:cNvSpPr/>
          <p:nvPr/>
        </p:nvSpPr>
        <p:spPr>
          <a:xfrm>
            <a:off x="3707249" y="2289572"/>
            <a:ext cx="595313" cy="595313"/>
          </a:xfrm>
          <a:prstGeom prst="roundRect">
            <a:avLst>
              <a:gd fmla="val 153600" name="adj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1"/>
          <p:cNvSpPr/>
          <p:nvPr/>
        </p:nvSpPr>
        <p:spPr>
          <a:xfrm>
            <a:off x="3885843" y="2438400"/>
            <a:ext cx="238125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850" u="none" cap="none" strike="noStrike"/>
          </a:p>
        </p:txBody>
      </p:sp>
      <p:sp>
        <p:nvSpPr>
          <p:cNvPr id="306" name="Google Shape;306;p31"/>
          <p:cNvSpPr/>
          <p:nvPr/>
        </p:nvSpPr>
        <p:spPr>
          <a:xfrm>
            <a:off x="1015008" y="3083362"/>
            <a:ext cx="260163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Liderar el Power Hour</a:t>
            </a:r>
            <a:endParaRPr b="0" i="0" sz="1950" u="none" cap="none" strike="noStrike"/>
          </a:p>
        </p:txBody>
      </p:sp>
      <p:sp>
        <p:nvSpPr>
          <p:cNvPr id="307" name="Google Shape;307;p31"/>
          <p:cNvSpPr/>
          <p:nvPr/>
        </p:nvSpPr>
        <p:spPr>
          <a:xfrm>
            <a:off x="1015008" y="3512582"/>
            <a:ext cx="5979795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Mantener el enfoque en generación de negocio.</a:t>
            </a:r>
            <a:endParaRPr b="0" i="0" sz="1550" u="none" cap="none" strike="noStrike"/>
          </a:p>
        </p:txBody>
      </p:sp>
      <p:sp>
        <p:nvSpPr>
          <p:cNvPr id="308" name="Google Shape;308;p31"/>
          <p:cNvSpPr/>
          <p:nvPr/>
        </p:nvSpPr>
        <p:spPr>
          <a:xfrm>
            <a:off x="7414379" y="2587228"/>
            <a:ext cx="6422231" cy="1464112"/>
          </a:xfrm>
          <a:prstGeom prst="roundRect">
            <a:avLst>
              <a:gd fmla="val 7495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1"/>
          <p:cNvSpPr/>
          <p:nvPr/>
        </p:nvSpPr>
        <p:spPr>
          <a:xfrm>
            <a:off x="7414379" y="2564368"/>
            <a:ext cx="6422231" cy="91440"/>
          </a:xfrm>
          <a:prstGeom prst="roundRect">
            <a:avLst>
              <a:gd fmla="val 10000" name="adj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1"/>
          <p:cNvSpPr/>
          <p:nvPr/>
        </p:nvSpPr>
        <p:spPr>
          <a:xfrm>
            <a:off x="10327838" y="2289572"/>
            <a:ext cx="595313" cy="595313"/>
          </a:xfrm>
          <a:prstGeom prst="roundRect">
            <a:avLst>
              <a:gd fmla="val 153600" name="adj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1"/>
          <p:cNvSpPr/>
          <p:nvPr/>
        </p:nvSpPr>
        <p:spPr>
          <a:xfrm>
            <a:off x="10506432" y="2438400"/>
            <a:ext cx="238125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850" u="none" cap="none" strike="noStrike"/>
          </a:p>
        </p:txBody>
      </p:sp>
      <p:sp>
        <p:nvSpPr>
          <p:cNvPr id="312" name="Google Shape;312;p31"/>
          <p:cNvSpPr/>
          <p:nvPr/>
        </p:nvSpPr>
        <p:spPr>
          <a:xfrm>
            <a:off x="7635597" y="3083362"/>
            <a:ext cx="3601522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Entrenar scripts y habilidades</a:t>
            </a:r>
            <a:endParaRPr b="0" i="0" sz="1950" u="none" cap="none" strike="noStrike"/>
          </a:p>
        </p:txBody>
      </p:sp>
      <p:sp>
        <p:nvSpPr>
          <p:cNvPr id="313" name="Google Shape;313;p31"/>
          <p:cNvSpPr/>
          <p:nvPr/>
        </p:nvSpPr>
        <p:spPr>
          <a:xfrm>
            <a:off x="7635597" y="3512582"/>
            <a:ext cx="5979795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Asegurar práctica constante.</a:t>
            </a:r>
            <a:endParaRPr b="0" i="0" sz="1550" u="none" cap="none" strike="noStrike"/>
          </a:p>
        </p:txBody>
      </p:sp>
      <p:sp>
        <p:nvSpPr>
          <p:cNvPr id="314" name="Google Shape;314;p31"/>
          <p:cNvSpPr/>
          <p:nvPr/>
        </p:nvSpPr>
        <p:spPr>
          <a:xfrm>
            <a:off x="793790" y="4547354"/>
            <a:ext cx="6422231" cy="1464112"/>
          </a:xfrm>
          <a:prstGeom prst="roundRect">
            <a:avLst>
              <a:gd fmla="val 7495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1"/>
          <p:cNvSpPr/>
          <p:nvPr/>
        </p:nvSpPr>
        <p:spPr>
          <a:xfrm>
            <a:off x="793790" y="4524494"/>
            <a:ext cx="6422231" cy="91440"/>
          </a:xfrm>
          <a:prstGeom prst="roundRect">
            <a:avLst>
              <a:gd fmla="val 10000" name="adj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1"/>
          <p:cNvSpPr/>
          <p:nvPr/>
        </p:nvSpPr>
        <p:spPr>
          <a:xfrm>
            <a:off x="3707249" y="4249698"/>
            <a:ext cx="595313" cy="595313"/>
          </a:xfrm>
          <a:prstGeom prst="roundRect">
            <a:avLst>
              <a:gd fmla="val 153600" name="adj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1"/>
          <p:cNvSpPr/>
          <p:nvPr/>
        </p:nvSpPr>
        <p:spPr>
          <a:xfrm>
            <a:off x="3885843" y="4398526"/>
            <a:ext cx="238125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850" u="none" cap="none" strike="noStrike"/>
          </a:p>
        </p:txBody>
      </p:sp>
      <p:sp>
        <p:nvSpPr>
          <p:cNvPr id="318" name="Google Shape;318;p31"/>
          <p:cNvSpPr/>
          <p:nvPr/>
        </p:nvSpPr>
        <p:spPr>
          <a:xfrm>
            <a:off x="1015008" y="5043488"/>
            <a:ext cx="4992886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Revisar que métricas se hayan registrado</a:t>
            </a:r>
            <a:endParaRPr b="0" i="0" sz="1950" u="none" cap="none" strike="noStrike"/>
          </a:p>
        </p:txBody>
      </p:sp>
      <p:sp>
        <p:nvSpPr>
          <p:cNvPr id="319" name="Google Shape;319;p31"/>
          <p:cNvSpPr/>
          <p:nvPr/>
        </p:nvSpPr>
        <p:spPr>
          <a:xfrm>
            <a:off x="7414379" y="4547354"/>
            <a:ext cx="6422231" cy="1464112"/>
          </a:xfrm>
          <a:prstGeom prst="roundRect">
            <a:avLst>
              <a:gd fmla="val 7495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1"/>
          <p:cNvSpPr/>
          <p:nvPr/>
        </p:nvSpPr>
        <p:spPr>
          <a:xfrm>
            <a:off x="7414379" y="4524494"/>
            <a:ext cx="6422231" cy="91440"/>
          </a:xfrm>
          <a:prstGeom prst="roundRect">
            <a:avLst>
              <a:gd fmla="val 10000" name="adj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1"/>
          <p:cNvSpPr/>
          <p:nvPr/>
        </p:nvSpPr>
        <p:spPr>
          <a:xfrm>
            <a:off x="10327838" y="4249698"/>
            <a:ext cx="595313" cy="595313"/>
          </a:xfrm>
          <a:prstGeom prst="roundRect">
            <a:avLst>
              <a:gd fmla="val 153600" name="adj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/>
          <p:nvPr/>
        </p:nvSpPr>
        <p:spPr>
          <a:xfrm>
            <a:off x="10506432" y="4398526"/>
            <a:ext cx="238125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850" u="none" cap="none" strike="noStrike"/>
          </a:p>
        </p:txBody>
      </p:sp>
      <p:sp>
        <p:nvSpPr>
          <p:cNvPr id="323" name="Google Shape;323;p31"/>
          <p:cNvSpPr/>
          <p:nvPr/>
        </p:nvSpPr>
        <p:spPr>
          <a:xfrm>
            <a:off x="7635597" y="5043488"/>
            <a:ext cx="2963823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Mantener accountability</a:t>
            </a:r>
            <a:endParaRPr b="0" i="0" sz="1950" u="none" cap="none" strike="noStrike"/>
          </a:p>
        </p:txBody>
      </p:sp>
      <p:sp>
        <p:nvSpPr>
          <p:cNvPr id="324" name="Google Shape;324;p31"/>
          <p:cNvSpPr/>
          <p:nvPr/>
        </p:nvSpPr>
        <p:spPr>
          <a:xfrm>
            <a:off x="7635597" y="5472708"/>
            <a:ext cx="5979795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Acompañar al asesor para que cumpla el sistema.</a:t>
            </a:r>
            <a:endParaRPr b="0" i="0" sz="1550" u="none" cap="none" strike="noStrike"/>
          </a:p>
        </p:txBody>
      </p:sp>
      <p:sp>
        <p:nvSpPr>
          <p:cNvPr id="325" name="Google Shape;325;p31"/>
          <p:cNvSpPr/>
          <p:nvPr/>
        </p:nvSpPr>
        <p:spPr>
          <a:xfrm>
            <a:off x="793790" y="6234708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Cuando estas cuatro funciones se ejecutan correctamente:</a:t>
            </a:r>
            <a:endParaRPr b="0" i="0" sz="1550" u="none" cap="none" strike="noStrike"/>
          </a:p>
        </p:txBody>
      </p:sp>
      <p:sp>
        <p:nvSpPr>
          <p:cNvPr id="326" name="Google Shape;326;p31"/>
          <p:cNvSpPr/>
          <p:nvPr/>
        </p:nvSpPr>
        <p:spPr>
          <a:xfrm>
            <a:off x="793790" y="6775490"/>
            <a:ext cx="3111937" cy="722114"/>
          </a:xfrm>
          <a:prstGeom prst="roundRect">
            <a:avLst>
              <a:gd fmla="val 1266" name="adj"/>
            </a:avLst>
          </a:prstGeom>
          <a:solidFill>
            <a:srgbClr val="F2EEEE"/>
          </a:solidFill>
          <a:ln cap="flat" cmpd="sng" w="95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1"/>
          <p:cNvSpPr/>
          <p:nvPr/>
        </p:nvSpPr>
        <p:spPr>
          <a:xfrm>
            <a:off x="999768" y="6981468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↑ Conversaciones</a:t>
            </a:r>
            <a:endParaRPr b="0" i="0" sz="1950" u="none" cap="none" strike="noStrike"/>
          </a:p>
        </p:txBody>
      </p:sp>
      <p:sp>
        <p:nvSpPr>
          <p:cNvPr id="328" name="Google Shape;328;p31"/>
          <p:cNvSpPr/>
          <p:nvPr/>
        </p:nvSpPr>
        <p:spPr>
          <a:xfrm>
            <a:off x="4104084" y="6775490"/>
            <a:ext cx="3111937" cy="722114"/>
          </a:xfrm>
          <a:prstGeom prst="roundRect">
            <a:avLst>
              <a:gd fmla="val 1266" name="adj"/>
            </a:avLst>
          </a:prstGeom>
          <a:solidFill>
            <a:srgbClr val="F2EEEE"/>
          </a:solidFill>
          <a:ln cap="flat" cmpd="sng" w="95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1"/>
          <p:cNvSpPr/>
          <p:nvPr/>
        </p:nvSpPr>
        <p:spPr>
          <a:xfrm>
            <a:off x="4310063" y="6981468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↑ Citas</a:t>
            </a:r>
            <a:endParaRPr b="0" i="0" sz="1950" u="none" cap="none" strike="noStrike"/>
          </a:p>
        </p:txBody>
      </p:sp>
      <p:sp>
        <p:nvSpPr>
          <p:cNvPr id="330" name="Google Shape;330;p31"/>
          <p:cNvSpPr/>
          <p:nvPr/>
        </p:nvSpPr>
        <p:spPr>
          <a:xfrm>
            <a:off x="7414379" y="6775490"/>
            <a:ext cx="3111937" cy="722114"/>
          </a:xfrm>
          <a:prstGeom prst="roundRect">
            <a:avLst>
              <a:gd fmla="val 1266" name="adj"/>
            </a:avLst>
          </a:prstGeom>
          <a:solidFill>
            <a:srgbClr val="F2EEEE"/>
          </a:solidFill>
          <a:ln cap="flat" cmpd="sng" w="95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1"/>
          <p:cNvSpPr/>
          <p:nvPr/>
        </p:nvSpPr>
        <p:spPr>
          <a:xfrm>
            <a:off x="7620357" y="6981468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↑ Exclusivas</a:t>
            </a:r>
            <a:endParaRPr b="0" i="0" sz="1950" u="none" cap="none" strike="noStrike"/>
          </a:p>
        </p:txBody>
      </p:sp>
      <p:sp>
        <p:nvSpPr>
          <p:cNvPr id="332" name="Google Shape;332;p31"/>
          <p:cNvSpPr/>
          <p:nvPr/>
        </p:nvSpPr>
        <p:spPr>
          <a:xfrm>
            <a:off x="10724674" y="6775490"/>
            <a:ext cx="3111937" cy="722114"/>
          </a:xfrm>
          <a:prstGeom prst="roundRect">
            <a:avLst>
              <a:gd fmla="val 1266" name="adj"/>
            </a:avLst>
          </a:prstGeom>
          <a:solidFill>
            <a:srgbClr val="F2EEEE"/>
          </a:solidFill>
          <a:ln cap="flat" cmpd="sng" w="95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1"/>
          <p:cNvSpPr/>
          <p:nvPr/>
        </p:nvSpPr>
        <p:spPr>
          <a:xfrm>
            <a:off x="10930652" y="6981468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↑ Cierres</a:t>
            </a:r>
            <a:endParaRPr b="0" i="0" sz="195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9" name="Google Shape;33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2"/>
          <p:cNvSpPr/>
          <p:nvPr/>
        </p:nvSpPr>
        <p:spPr>
          <a:xfrm>
            <a:off x="793790" y="555188"/>
            <a:ext cx="3473291" cy="434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</a:pPr>
            <a:r>
              <a:t/>
            </a:r>
            <a:endParaRPr b="0" i="0" sz="2700" u="none" cap="none" strike="noStrike"/>
          </a:p>
        </p:txBody>
      </p:sp>
      <p:sp>
        <p:nvSpPr>
          <p:cNvPr id="341" name="Google Shape;341;p32"/>
          <p:cNvSpPr/>
          <p:nvPr/>
        </p:nvSpPr>
        <p:spPr>
          <a:xfrm>
            <a:off x="793790" y="1135142"/>
            <a:ext cx="7556421" cy="18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Activa 90 es una estructura.</a:t>
            </a:r>
            <a:endParaRPr b="0" i="0" sz="1050" u="none" cap="none" strike="noStrike"/>
          </a:p>
        </p:txBody>
      </p:sp>
      <p:pic>
        <p:nvPicPr>
          <p:cNvPr descr="preencoded.png" id="342" name="Google Shape;34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1433393"/>
            <a:ext cx="7556421" cy="3400306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/>
          <p:nvPr/>
        </p:nvSpPr>
        <p:spPr>
          <a:xfrm>
            <a:off x="1932086" y="1446903"/>
            <a:ext cx="1322341" cy="173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Asesores</a:t>
            </a:r>
            <a:endParaRPr b="0" i="0" sz="1250" u="none" cap="none" strike="noStrike"/>
          </a:p>
        </p:txBody>
      </p:sp>
      <p:sp>
        <p:nvSpPr>
          <p:cNvPr id="344" name="Google Shape;344;p32"/>
          <p:cNvSpPr/>
          <p:nvPr/>
        </p:nvSpPr>
        <p:spPr>
          <a:xfrm>
            <a:off x="1932086" y="1678721"/>
            <a:ext cx="1322341" cy="613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El equipo inicia la ejecución estratégica</a:t>
            </a:r>
            <a:endParaRPr b="0" i="0" sz="1250" u="none" cap="none" strike="noStrike"/>
          </a:p>
        </p:txBody>
      </p:sp>
      <p:pic>
        <p:nvPicPr>
          <p:cNvPr descr="preencoded.png" id="345" name="Google Shape;34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442" y="2500984"/>
            <a:ext cx="292895" cy="29289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2"/>
          <p:cNvSpPr/>
          <p:nvPr/>
        </p:nvSpPr>
        <p:spPr>
          <a:xfrm>
            <a:off x="3239896" y="3981806"/>
            <a:ext cx="1329607" cy="204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Conversaciones</a:t>
            </a:r>
            <a:endParaRPr b="0" i="0" sz="1250" u="none" cap="none" strike="noStrike"/>
          </a:p>
        </p:txBody>
      </p:sp>
      <p:sp>
        <p:nvSpPr>
          <p:cNvPr id="347" name="Google Shape;347;p32"/>
          <p:cNvSpPr/>
          <p:nvPr/>
        </p:nvSpPr>
        <p:spPr>
          <a:xfrm>
            <a:off x="3239896" y="4244277"/>
            <a:ext cx="1329607" cy="613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Incremento de diálogo con prospectos</a:t>
            </a:r>
            <a:endParaRPr b="0" i="0" sz="1250" u="none" cap="none" strike="noStrike"/>
          </a:p>
        </p:txBody>
      </p:sp>
      <p:pic>
        <p:nvPicPr>
          <p:cNvPr descr="preencoded.png" id="348" name="Google Shape;34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58252" y="3569029"/>
            <a:ext cx="292895" cy="29289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2"/>
          <p:cNvSpPr/>
          <p:nvPr/>
        </p:nvSpPr>
        <p:spPr>
          <a:xfrm>
            <a:off x="4533174" y="1641144"/>
            <a:ext cx="1322341" cy="173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Citas</a:t>
            </a:r>
            <a:endParaRPr b="0" i="0" sz="1250" u="none" cap="none" strike="noStrike"/>
          </a:p>
        </p:txBody>
      </p:sp>
      <p:pic>
        <p:nvPicPr>
          <p:cNvPr descr="preencoded.png" id="350" name="Google Shape;350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73327" y="2471922"/>
            <a:ext cx="292895" cy="29289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2"/>
          <p:cNvSpPr/>
          <p:nvPr/>
        </p:nvSpPr>
        <p:spPr>
          <a:xfrm>
            <a:off x="5840984" y="3981806"/>
            <a:ext cx="1322341" cy="204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Resultados</a:t>
            </a:r>
            <a:endParaRPr b="0" i="0" sz="1250" u="none" cap="none" strike="noStrike"/>
          </a:p>
        </p:txBody>
      </p:sp>
      <p:sp>
        <p:nvSpPr>
          <p:cNvPr id="352" name="Google Shape;352;p32"/>
          <p:cNvSpPr/>
          <p:nvPr/>
        </p:nvSpPr>
        <p:spPr>
          <a:xfrm>
            <a:off x="5840984" y="4244277"/>
            <a:ext cx="1322341" cy="613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Impacto visible y metas cumplidas</a:t>
            </a:r>
            <a:endParaRPr b="0" i="0" sz="1250" u="none" cap="none" strike="noStrike"/>
          </a:p>
        </p:txBody>
      </p:sp>
      <p:pic>
        <p:nvPicPr>
          <p:cNvPr descr="preencoded.png" id="353" name="Google Shape;353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9340" y="3569029"/>
            <a:ext cx="292895" cy="29289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2"/>
          <p:cNvSpPr/>
          <p:nvPr/>
        </p:nvSpPr>
        <p:spPr>
          <a:xfrm>
            <a:off x="793790" y="4942999"/>
            <a:ext cx="7556421" cy="18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3B3535"/>
                </a:solidFill>
                <a:latin typeface="Inter"/>
                <a:ea typeface="Inter"/>
                <a:cs typeface="Inter"/>
                <a:sym typeface="Inter"/>
              </a:rPr>
              <a:t>Ese es el objetivo.</a:t>
            </a:r>
            <a:endParaRPr b="0" i="0" sz="1050" u="none" cap="none" strike="noStrike"/>
          </a:p>
        </p:txBody>
      </p:sp>
      <p:sp>
        <p:nvSpPr>
          <p:cNvPr id="355" name="Google Shape;355;p32"/>
          <p:cNvSpPr/>
          <p:nvPr/>
        </p:nvSpPr>
        <p:spPr>
          <a:xfrm>
            <a:off x="793790" y="5277803"/>
            <a:ext cx="7556421" cy="2396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750"/>
              <a:buFont typeface="Inter"/>
              <a:buNone/>
            </a:pPr>
            <a:r>
              <a:rPr b="1" i="0" lang="en-US" sz="375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Construir un Market Center </a:t>
            </a:r>
            <a:r>
              <a:rPr b="1" i="0" lang="en-US" sz="3750" u="none" cap="none" strike="noStrike">
                <a:solidFill>
                  <a:srgbClr val="DA1B2E"/>
                </a:solidFill>
                <a:latin typeface="Inter"/>
                <a:ea typeface="Inter"/>
                <a:cs typeface="Inter"/>
                <a:sym typeface="Inter"/>
              </a:rPr>
              <a:t>más productivo</a:t>
            </a:r>
            <a:r>
              <a:rPr b="1" i="0" lang="en-US" sz="3750" u="none" cap="none" strike="noStrike">
                <a:solidFill>
                  <a:srgbClr val="1F1E1E"/>
                </a:solidFill>
                <a:latin typeface="Inter"/>
                <a:ea typeface="Inter"/>
                <a:cs typeface="Inter"/>
                <a:sym typeface="Inter"/>
              </a:rPr>
              <a:t>, con asesores realmente activos y comprometidos con su negocio.</a:t>
            </a:r>
            <a:endParaRPr b="0" i="0" sz="3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